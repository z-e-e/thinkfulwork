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embeddedFontLst>
    <p:embeddedFont>
      <p:font typeface="Raleway"/>
      <p:regular r:id="rId32"/>
      <p:bold r:id="rId33"/>
      <p:italic r:id="rId34"/>
      <p:boldItalic r:id="rId35"/>
    </p:embeddedFont>
    <p:embeddedFont>
      <p:font typeface="Roboto"/>
      <p:regular r:id="rId36"/>
      <p:bold r:id="rId37"/>
      <p:italic r:id="rId38"/>
      <p:boldItalic r:id="rId39"/>
    </p:embeddedFont>
    <p:embeddedFont>
      <p:font typeface="Lato"/>
      <p:regular r:id="rId40"/>
      <p:bold r:id="rId41"/>
      <p:italic r:id="rId42"/>
      <p:boldItalic r:id="rId43"/>
    </p:embeddedFont>
    <p:embeddedFont>
      <p:font typeface="Helvetica Neue"/>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regular.fntdata"/><Relationship Id="rId20" Type="http://schemas.openxmlformats.org/officeDocument/2006/relationships/slide" Target="slides/slide15.xml"/><Relationship Id="rId42" Type="http://schemas.openxmlformats.org/officeDocument/2006/relationships/font" Target="fonts/Lato-italic.fntdata"/><Relationship Id="rId41" Type="http://schemas.openxmlformats.org/officeDocument/2006/relationships/font" Target="fonts/Lato-bold.fntdata"/><Relationship Id="rId22" Type="http://schemas.openxmlformats.org/officeDocument/2006/relationships/slide" Target="slides/slide17.xml"/><Relationship Id="rId44" Type="http://schemas.openxmlformats.org/officeDocument/2006/relationships/font" Target="fonts/HelveticaNeue-regular.fntdata"/><Relationship Id="rId21" Type="http://schemas.openxmlformats.org/officeDocument/2006/relationships/slide" Target="slides/slide16.xml"/><Relationship Id="rId43" Type="http://schemas.openxmlformats.org/officeDocument/2006/relationships/font" Target="fonts/Lato-boldItalic.fntdata"/><Relationship Id="rId24" Type="http://schemas.openxmlformats.org/officeDocument/2006/relationships/slide" Target="slides/slide19.xml"/><Relationship Id="rId46" Type="http://schemas.openxmlformats.org/officeDocument/2006/relationships/font" Target="fonts/HelveticaNeue-italic.fntdata"/><Relationship Id="rId23" Type="http://schemas.openxmlformats.org/officeDocument/2006/relationships/slide" Target="slides/slide18.xml"/><Relationship Id="rId45" Type="http://schemas.openxmlformats.org/officeDocument/2006/relationships/font" Target="fonts/HelveticaNeue-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schemas.openxmlformats.org/officeDocument/2006/relationships/font" Target="fonts/HelveticaNeue-boldItalic.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aleway-bold.fntdata"/><Relationship Id="rId10" Type="http://schemas.openxmlformats.org/officeDocument/2006/relationships/slide" Target="slides/slide5.xml"/><Relationship Id="rId32" Type="http://schemas.openxmlformats.org/officeDocument/2006/relationships/font" Target="fonts/Raleway-regular.fntdata"/><Relationship Id="rId13" Type="http://schemas.openxmlformats.org/officeDocument/2006/relationships/slide" Target="slides/slide8.xml"/><Relationship Id="rId35" Type="http://schemas.openxmlformats.org/officeDocument/2006/relationships/font" Target="fonts/Raleway-boldItalic.fntdata"/><Relationship Id="rId12" Type="http://schemas.openxmlformats.org/officeDocument/2006/relationships/slide" Target="slides/slide7.xml"/><Relationship Id="rId34" Type="http://schemas.openxmlformats.org/officeDocument/2006/relationships/font" Target="fonts/Raleway-italic.fntdata"/><Relationship Id="rId15" Type="http://schemas.openxmlformats.org/officeDocument/2006/relationships/slide" Target="slides/slide10.xml"/><Relationship Id="rId37" Type="http://schemas.openxmlformats.org/officeDocument/2006/relationships/font" Target="fonts/Roboto-bold.fntdata"/><Relationship Id="rId14" Type="http://schemas.openxmlformats.org/officeDocument/2006/relationships/slide" Target="slides/slide9.xml"/><Relationship Id="rId36" Type="http://schemas.openxmlformats.org/officeDocument/2006/relationships/font" Target="fonts/Roboto-regular.fntdata"/><Relationship Id="rId17" Type="http://schemas.openxmlformats.org/officeDocument/2006/relationships/slide" Target="slides/slide12.xml"/><Relationship Id="rId39" Type="http://schemas.openxmlformats.org/officeDocument/2006/relationships/font" Target="fonts/Roboto-boldItalic.fntdata"/><Relationship Id="rId16" Type="http://schemas.openxmlformats.org/officeDocument/2006/relationships/slide" Target="slides/slide11.xml"/><Relationship Id="rId38" Type="http://schemas.openxmlformats.org/officeDocument/2006/relationships/font" Target="fonts/Roboto-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world-heart-federation.org/resources/cardiovascular-diseases-cvds-global-facts-figures/"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ST_depression"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8" name="Shape 88"/>
        <p:cNvGrpSpPr/>
        <p:nvPr/>
      </p:nvGrpSpPr>
      <p:grpSpPr>
        <a:xfrm>
          <a:off x="0" y="0"/>
          <a:ext cx="0" cy="0"/>
          <a:chOff x="0" y="0"/>
          <a:chExt cx="0" cy="0"/>
        </a:xfrm>
      </p:grpSpPr>
      <p:sp>
        <p:nvSpPr>
          <p:cNvPr id="89" name="Google Shape;89;g64c4ad933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64c4ad933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4" name="Shape 94"/>
        <p:cNvGrpSpPr/>
        <p:nvPr/>
      </p:nvGrpSpPr>
      <p:grpSpPr>
        <a:xfrm>
          <a:off x="0" y="0"/>
          <a:ext cx="0" cy="0"/>
          <a:chOff x="0" y="0"/>
          <a:chExt cx="0" cy="0"/>
        </a:xfrm>
      </p:grpSpPr>
      <p:sp>
        <p:nvSpPr>
          <p:cNvPr id="95" name="Google Shape;95;g64c4ad933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64c4ad933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75000"/>
              </a:lnSpc>
              <a:spcBef>
                <a:spcPts val="0"/>
              </a:spcBef>
              <a:spcAft>
                <a:spcPts val="0"/>
              </a:spcAft>
              <a:buClr>
                <a:schemeClr val="dk1"/>
              </a:buClr>
              <a:buSzPts val="1100"/>
              <a:buFont typeface="Arial"/>
              <a:buNone/>
            </a:pPr>
            <a:r>
              <a:rPr lang="en" sz="1150">
                <a:solidFill>
                  <a:srgbClr val="17344A"/>
                </a:solidFill>
                <a:highlight>
                  <a:srgbClr val="FFFFFF"/>
                </a:highlight>
                <a:latin typeface="Helvetica Neue"/>
                <a:ea typeface="Helvetica Neue"/>
                <a:cs typeface="Helvetica Neue"/>
                <a:sym typeface="Helvetica Neue"/>
              </a:rPr>
              <a:t>Heart disease is the </a:t>
            </a:r>
            <a:r>
              <a:rPr lang="en" sz="1150">
                <a:solidFill>
                  <a:srgbClr val="03A9F4"/>
                </a:solidFill>
                <a:highlight>
                  <a:srgbClr val="FFFFFF"/>
                </a:highlight>
                <a:uFill>
                  <a:noFill/>
                </a:uFill>
                <a:latin typeface="Helvetica Neue"/>
                <a:ea typeface="Helvetica Neue"/>
                <a:cs typeface="Helvetica Neue"/>
                <a:sym typeface="Helvetica Neue"/>
                <a:hlinkClick r:id="rId2"/>
              </a:rPr>
              <a:t>number one cause of death worldwide</a:t>
            </a:r>
            <a:r>
              <a:rPr lang="en" sz="1150">
                <a:solidFill>
                  <a:srgbClr val="17344A"/>
                </a:solidFill>
                <a:highlight>
                  <a:srgbClr val="FFFFFF"/>
                </a:highlight>
                <a:latin typeface="Helvetica Neue"/>
                <a:ea typeface="Helvetica Neue"/>
                <a:cs typeface="Helvetica Neue"/>
                <a:sym typeface="Helvetica Neue"/>
              </a:rPr>
              <a:t>, so if you're looking to use data science for good you've come to the right place. To learn how to prevent heart disease we must first learn to reliably detect it.</a:t>
            </a:r>
            <a:endParaRPr sz="1150">
              <a:solidFill>
                <a:srgbClr val="17344A"/>
              </a:solidFill>
              <a:highlight>
                <a:srgbClr val="FFFFFF"/>
              </a:highlight>
              <a:latin typeface="Helvetica Neue"/>
              <a:ea typeface="Helvetica Neue"/>
              <a:cs typeface="Helvetica Neue"/>
              <a:sym typeface="Helvetica Neue"/>
            </a:endParaRPr>
          </a:p>
          <a:p>
            <a:pPr indent="0" lvl="0" marL="0" rtl="0" algn="l">
              <a:lnSpc>
                <a:spcPct val="175000"/>
              </a:lnSpc>
              <a:spcBef>
                <a:spcPts val="1100"/>
              </a:spcBef>
              <a:spcAft>
                <a:spcPts val="0"/>
              </a:spcAft>
              <a:buClr>
                <a:schemeClr val="dk1"/>
              </a:buClr>
              <a:buSzPts val="1100"/>
              <a:buFont typeface="Arial"/>
              <a:buNone/>
            </a:pPr>
            <a:r>
              <a:rPr lang="en" sz="1150">
                <a:solidFill>
                  <a:srgbClr val="17344A"/>
                </a:solidFill>
                <a:highlight>
                  <a:srgbClr val="FFFFFF"/>
                </a:highlight>
                <a:latin typeface="Helvetica Neue"/>
                <a:ea typeface="Helvetica Neue"/>
                <a:cs typeface="Helvetica Neue"/>
                <a:sym typeface="Helvetica Neue"/>
              </a:rPr>
              <a:t>Our dataset is from a study of heart disease that has been open to the public for many years. The study collects various measurements on patient health and cardiovascular statistics, and of course makes patient identities anonymous.</a:t>
            </a:r>
            <a:endParaRPr sz="1150">
              <a:solidFill>
                <a:srgbClr val="17344A"/>
              </a:solidFill>
              <a:highlight>
                <a:srgbClr val="FFFFFF"/>
              </a:highlight>
              <a:latin typeface="Helvetica Neue"/>
              <a:ea typeface="Helvetica Neue"/>
              <a:cs typeface="Helvetica Neue"/>
              <a:sym typeface="Helvetica Neue"/>
            </a:endParaRPr>
          </a:p>
          <a:p>
            <a:pPr indent="0" lvl="0" marL="0" rtl="0" algn="l">
              <a:spcBef>
                <a:spcPts val="11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1" name="Shape 101"/>
        <p:cNvGrpSpPr/>
        <p:nvPr/>
      </p:nvGrpSpPr>
      <p:grpSpPr>
        <a:xfrm>
          <a:off x="0" y="0"/>
          <a:ext cx="0" cy="0"/>
          <a:chOff x="0" y="0"/>
          <a:chExt cx="0" cy="0"/>
        </a:xfrm>
      </p:grpSpPr>
      <p:sp>
        <p:nvSpPr>
          <p:cNvPr id="102" name="Google Shape;102;g64c4ad933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64c4ad933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Advantages of the dataset, pretty clean, no null values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7" name="Shape 107"/>
        <p:cNvGrpSpPr/>
        <p:nvPr/>
      </p:nvGrpSpPr>
      <p:grpSpPr>
        <a:xfrm>
          <a:off x="0" y="0"/>
          <a:ext cx="0" cy="0"/>
          <a:chOff x="0" y="0"/>
          <a:chExt cx="0" cy="0"/>
        </a:xfrm>
      </p:grpSpPr>
      <p:sp>
        <p:nvSpPr>
          <p:cNvPr id="108" name="Google Shape;108;g743690e8e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743690e8e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3" name="Shape 113"/>
        <p:cNvGrpSpPr/>
        <p:nvPr/>
      </p:nvGrpSpPr>
      <p:grpSpPr>
        <a:xfrm>
          <a:off x="0" y="0"/>
          <a:ext cx="0" cy="0"/>
          <a:chOff x="0" y="0"/>
          <a:chExt cx="0" cy="0"/>
        </a:xfrm>
      </p:grpSpPr>
      <p:sp>
        <p:nvSpPr>
          <p:cNvPr id="114" name="Google Shape;114;g64c4ad933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64c4ad933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Right off the bat, we can see that imbalance is not really an issue for this dataset in terms of patients with heart disease versus those without it. We also see that males that there are more males than females in the dataset, almost double.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7" name="Shape 127"/>
        <p:cNvGrpSpPr/>
        <p:nvPr/>
      </p:nvGrpSpPr>
      <p:grpSpPr>
        <a:xfrm>
          <a:off x="0" y="0"/>
          <a:ext cx="0" cy="0"/>
          <a:chOff x="0" y="0"/>
          <a:chExt cx="0" cy="0"/>
        </a:xfrm>
      </p:grpSpPr>
      <p:sp>
        <p:nvSpPr>
          <p:cNvPr id="128" name="Google Shape;128;g743690e8eb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743690e8e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highlight>
                  <a:srgbClr val="FFFFFF"/>
                </a:highlight>
                <a:latin typeface="Georgia"/>
                <a:ea typeface="Georgia"/>
                <a:cs typeface="Georgia"/>
                <a:sym typeface="Georgia"/>
              </a:rPr>
              <a:t>For features blood pressure, cholesterol level and heart rate, the data is more or less balanced between heart disease present and not, and in terms of distribution the data closely resembles normal distribution. </a:t>
            </a:r>
            <a:endParaRPr sz="1600">
              <a:solidFill>
                <a:schemeClr val="dk1"/>
              </a:solidFill>
              <a:highlight>
                <a:srgbClr val="FFFFFF"/>
              </a:highlight>
              <a:latin typeface="Georgia"/>
              <a:ea typeface="Georgia"/>
              <a:cs typeface="Georgia"/>
              <a:sym typeface="Georgia"/>
            </a:endParaRPr>
          </a:p>
          <a:p>
            <a:pPr indent="0" lvl="0" marL="0" rtl="0" algn="l">
              <a:spcBef>
                <a:spcPts val="0"/>
              </a:spcBef>
              <a:spcAft>
                <a:spcPts val="0"/>
              </a:spcAft>
              <a:buNone/>
            </a:pPr>
            <a:r>
              <a:t/>
            </a:r>
            <a:endParaRPr sz="1600">
              <a:solidFill>
                <a:schemeClr val="dk1"/>
              </a:solidFill>
              <a:highlight>
                <a:srgbClr val="FFFFFF"/>
              </a:highlight>
              <a:latin typeface="Georgia"/>
              <a:ea typeface="Georgia"/>
              <a:cs typeface="Georgia"/>
              <a:sym typeface="Georgia"/>
            </a:endParaRPr>
          </a:p>
          <a:p>
            <a:pPr indent="0" lvl="0" marL="0" rtl="0" algn="l">
              <a:spcBef>
                <a:spcPts val="0"/>
              </a:spcBef>
              <a:spcAft>
                <a:spcPts val="0"/>
              </a:spcAft>
              <a:buNone/>
            </a:pPr>
            <a:r>
              <a:rPr lang="en" sz="1600">
                <a:solidFill>
                  <a:schemeClr val="dk1"/>
                </a:solidFill>
                <a:highlight>
                  <a:srgbClr val="FFFFFF"/>
                </a:highlight>
                <a:latin typeface="Georgia"/>
                <a:ea typeface="Georgia"/>
                <a:cs typeface="Georgia"/>
                <a:sym typeface="Georgia"/>
              </a:rPr>
              <a:t>For ST Depression, which indicates abnormality in electrodiagrams, the frequency chart indicates correlation and the distribution is skewed to the left. </a:t>
            </a:r>
            <a:endParaRPr sz="1600">
              <a:solidFill>
                <a:schemeClr val="dk1"/>
              </a:solidFill>
              <a:highlight>
                <a:srgbClr val="FFFFFF"/>
              </a:highlight>
              <a:latin typeface="Georgia"/>
              <a:ea typeface="Georgia"/>
              <a:cs typeface="Georgia"/>
              <a:sym typeface="Georgia"/>
            </a:endParaRPr>
          </a:p>
          <a:p>
            <a:pPr indent="0" lvl="0" marL="0" rtl="0" algn="l">
              <a:spcBef>
                <a:spcPts val="0"/>
              </a:spcBef>
              <a:spcAft>
                <a:spcPts val="0"/>
              </a:spcAft>
              <a:buNone/>
            </a:pPr>
            <a:r>
              <a:t/>
            </a:r>
            <a:endParaRPr sz="1600">
              <a:solidFill>
                <a:schemeClr val="dk1"/>
              </a:solidFill>
              <a:highlight>
                <a:srgbClr val="FFFFFF"/>
              </a:highlight>
              <a:latin typeface="Georgia"/>
              <a:ea typeface="Georgia"/>
              <a:cs typeface="Georgia"/>
              <a:sym typeface="Georgia"/>
            </a:endParaRPr>
          </a:p>
          <a:p>
            <a:pPr indent="0" lvl="0" marL="0" rtl="0" algn="l">
              <a:spcBef>
                <a:spcPts val="0"/>
              </a:spcBef>
              <a:spcAft>
                <a:spcPts val="0"/>
              </a:spcAft>
              <a:buNone/>
            </a:pPr>
            <a:r>
              <a:rPr lang="en" sz="1600">
                <a:solidFill>
                  <a:schemeClr val="dk1"/>
                </a:solidFill>
                <a:highlight>
                  <a:srgbClr val="FFFFFF"/>
                </a:highlight>
                <a:latin typeface="Georgia"/>
                <a:ea typeface="Georgia"/>
                <a:cs typeface="Georgia"/>
                <a:sym typeface="Georgia"/>
              </a:rPr>
              <a:t>Based on a T-Test conducted, the results shows that there is a significant difference between groups with and without heart disease for the features Max Heart Rate Achieved and ST Depression.</a:t>
            </a:r>
            <a:endParaRPr sz="1600">
              <a:solidFill>
                <a:schemeClr val="dk1"/>
              </a:solidFill>
              <a:highlight>
                <a:srgbClr val="FFFFFF"/>
              </a:highlight>
              <a:latin typeface="Georgia"/>
              <a:ea typeface="Georgia"/>
              <a:cs typeface="Georgia"/>
              <a:sym typeface="Georgia"/>
            </a:endParaRPr>
          </a:p>
          <a:p>
            <a:pPr indent="0" lvl="0" marL="0" rtl="0" algn="l">
              <a:spcBef>
                <a:spcPts val="0"/>
              </a:spcBef>
              <a:spcAft>
                <a:spcPts val="0"/>
              </a:spcAft>
              <a:buNone/>
            </a:pPr>
            <a:r>
              <a:t/>
            </a:r>
            <a:endParaRPr sz="1600">
              <a:solidFill>
                <a:schemeClr val="dk1"/>
              </a:solidFill>
              <a:highlight>
                <a:srgbClr val="FFFFFF"/>
              </a:highlight>
              <a:latin typeface="Georgia"/>
              <a:ea typeface="Georgia"/>
              <a:cs typeface="Georgia"/>
              <a:sym typeface="Georgia"/>
            </a:endParaRPr>
          </a:p>
          <a:p>
            <a:pPr indent="0" lvl="0" marL="0" rtl="0" algn="l">
              <a:spcBef>
                <a:spcPts val="0"/>
              </a:spcBef>
              <a:spcAft>
                <a:spcPts val="0"/>
              </a:spcAft>
              <a:buNone/>
            </a:pPr>
            <a:r>
              <a:rPr lang="en" sz="1600">
                <a:solidFill>
                  <a:schemeClr val="dk1"/>
                </a:solidFill>
                <a:highlight>
                  <a:srgbClr val="FFFFFF"/>
                </a:highlight>
                <a:latin typeface="Georgia"/>
                <a:ea typeface="Georgia"/>
                <a:cs typeface="Georgia"/>
                <a:sym typeface="Georgia"/>
              </a:rPr>
              <a:t>oldpeak = </a:t>
            </a:r>
            <a:r>
              <a:rPr lang="en" sz="1600">
                <a:solidFill>
                  <a:schemeClr val="hlink"/>
                </a:solidFill>
                <a:highlight>
                  <a:srgbClr val="FFFFFF"/>
                </a:highlight>
                <a:uFill>
                  <a:noFill/>
                </a:uFill>
                <a:latin typeface="Georgia"/>
                <a:ea typeface="Georgia"/>
                <a:cs typeface="Georgia"/>
                <a:sym typeface="Georgia"/>
                <a:hlinkClick r:id="rId2"/>
              </a:rPr>
              <a:t>ST depression</a:t>
            </a:r>
            <a:r>
              <a:rPr lang="en" sz="1600">
                <a:solidFill>
                  <a:schemeClr val="dk1"/>
                </a:solidFill>
                <a:highlight>
                  <a:srgbClr val="FFFFFF"/>
                </a:highlight>
                <a:latin typeface="Georgia"/>
                <a:ea typeface="Georgia"/>
                <a:cs typeface="Georgia"/>
                <a:sym typeface="Georgia"/>
              </a:rPr>
              <a:t> induced by exercise relative to rest, a measure of abnormality in electrocardiograms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7" name="Shape 137"/>
        <p:cNvGrpSpPr/>
        <p:nvPr/>
      </p:nvGrpSpPr>
      <p:grpSpPr>
        <a:xfrm>
          <a:off x="0" y="0"/>
          <a:ext cx="0" cy="0"/>
          <a:chOff x="0" y="0"/>
          <a:chExt cx="0" cy="0"/>
        </a:xfrm>
      </p:grpSpPr>
      <p:sp>
        <p:nvSpPr>
          <p:cNvPr id="138" name="Google Shape;138;g743690e8eb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743690e8e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highlight>
                  <a:srgbClr val="FFFFFF"/>
                </a:highlight>
                <a:latin typeface="Georgia"/>
                <a:ea typeface="Georgia"/>
                <a:cs typeface="Georgia"/>
                <a:sym typeface="Georgia"/>
              </a:rPr>
              <a:t>From this chart, we can see that for age groups 40-49, 50-59 and 60-69 heart disease is more common than other age groups. We can also see that gender could be correlated with heart disease presence since males have a higher frequency.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7" name="Shape 147"/>
        <p:cNvGrpSpPr/>
        <p:nvPr/>
      </p:nvGrpSpPr>
      <p:grpSpPr>
        <a:xfrm>
          <a:off x="0" y="0"/>
          <a:ext cx="0" cy="0"/>
          <a:chOff x="0" y="0"/>
          <a:chExt cx="0" cy="0"/>
        </a:xfrm>
      </p:grpSpPr>
      <p:sp>
        <p:nvSpPr>
          <p:cNvPr id="148" name="Google Shape;148;g743690e8eb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743690e8eb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0" name="Shape 160"/>
        <p:cNvGrpSpPr/>
        <p:nvPr/>
      </p:nvGrpSpPr>
      <p:grpSpPr>
        <a:xfrm>
          <a:off x="0" y="0"/>
          <a:ext cx="0" cy="0"/>
          <a:chOff x="0" y="0"/>
          <a:chExt cx="0" cy="0"/>
        </a:xfrm>
      </p:grpSpPr>
      <p:sp>
        <p:nvSpPr>
          <p:cNvPr id="161" name="Google Shape;161;g743690e8eb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743690e8eb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5" name="Shape 175"/>
        <p:cNvGrpSpPr/>
        <p:nvPr/>
      </p:nvGrpSpPr>
      <p:grpSpPr>
        <a:xfrm>
          <a:off x="0" y="0"/>
          <a:ext cx="0" cy="0"/>
          <a:chOff x="0" y="0"/>
          <a:chExt cx="0" cy="0"/>
        </a:xfrm>
      </p:grpSpPr>
      <p:sp>
        <p:nvSpPr>
          <p:cNvPr id="176" name="Google Shape;176;g743690e8eb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743690e8eb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From the Point-biserial correlation co-efficient , Max heart rate coefficient, oeak exercise, thal and chest pain are correlated with the presence of heart disease.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1" name="Shape 181"/>
        <p:cNvGrpSpPr/>
        <p:nvPr/>
      </p:nvGrpSpPr>
      <p:grpSpPr>
        <a:xfrm>
          <a:off x="0" y="0"/>
          <a:ext cx="0" cy="0"/>
          <a:chOff x="0" y="0"/>
          <a:chExt cx="0" cy="0"/>
        </a:xfrm>
      </p:grpSpPr>
      <p:sp>
        <p:nvSpPr>
          <p:cNvPr id="182" name="Google Shape;182;g64c4ad9332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64c4ad9332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7" name="Shape 187"/>
        <p:cNvGrpSpPr/>
        <p:nvPr/>
      </p:nvGrpSpPr>
      <p:grpSpPr>
        <a:xfrm>
          <a:off x="0" y="0"/>
          <a:ext cx="0" cy="0"/>
          <a:chOff x="0" y="0"/>
          <a:chExt cx="0" cy="0"/>
        </a:xfrm>
      </p:grpSpPr>
      <p:sp>
        <p:nvSpPr>
          <p:cNvPr id="188" name="Google Shape;188;g743690e8eb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743690e8eb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classification models used were starting from the simplest NB to most complex model Stacking.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8" name="Shape 208"/>
        <p:cNvGrpSpPr/>
        <p:nvPr/>
      </p:nvGrpSpPr>
      <p:grpSpPr>
        <a:xfrm>
          <a:off x="0" y="0"/>
          <a:ext cx="0" cy="0"/>
          <a:chOff x="0" y="0"/>
          <a:chExt cx="0" cy="0"/>
        </a:xfrm>
      </p:grpSpPr>
      <p:sp>
        <p:nvSpPr>
          <p:cNvPr id="209" name="Google Shape;209;g64c4ad9332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64c4ad9332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Box Cox transformation is not used because the data contains some values that are close to 0. </a:t>
            </a:r>
            <a:endParaRPr/>
          </a:p>
          <a:p>
            <a:pPr indent="0" lvl="0" marL="0" rtl="0" algn="l">
              <a:spcBef>
                <a:spcPts val="0"/>
              </a:spcBef>
              <a:spcAft>
                <a:spcPts val="0"/>
              </a:spcAft>
              <a:buNone/>
            </a:pPr>
            <a:r>
              <a:rPr lang="en"/>
              <a:t>Normality is assessed using jaque berra test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4" name="Shape 214"/>
        <p:cNvGrpSpPr/>
        <p:nvPr/>
      </p:nvGrpSpPr>
      <p:grpSpPr>
        <a:xfrm>
          <a:off x="0" y="0"/>
          <a:ext cx="0" cy="0"/>
          <a:chOff x="0" y="0"/>
          <a:chExt cx="0" cy="0"/>
        </a:xfrm>
      </p:grpSpPr>
      <p:sp>
        <p:nvSpPr>
          <p:cNvPr id="215" name="Google Shape;215;g64c4ad9332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64c4ad933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0" name="Shape 220"/>
        <p:cNvGrpSpPr/>
        <p:nvPr/>
      </p:nvGrpSpPr>
      <p:grpSpPr>
        <a:xfrm>
          <a:off x="0" y="0"/>
          <a:ext cx="0" cy="0"/>
          <a:chOff x="0" y="0"/>
          <a:chExt cx="0" cy="0"/>
        </a:xfrm>
      </p:grpSpPr>
      <p:sp>
        <p:nvSpPr>
          <p:cNvPr id="221" name="Google Shape;221;g64c4ad933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64c4ad933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7" name="Shape 227"/>
        <p:cNvGrpSpPr/>
        <p:nvPr/>
      </p:nvGrpSpPr>
      <p:grpSpPr>
        <a:xfrm>
          <a:off x="0" y="0"/>
          <a:ext cx="0" cy="0"/>
          <a:chOff x="0" y="0"/>
          <a:chExt cx="0" cy="0"/>
        </a:xfrm>
      </p:grpSpPr>
      <p:sp>
        <p:nvSpPr>
          <p:cNvPr id="228" name="Google Shape;228;g743690e8eb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743690e8eb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3" name="Shape 233"/>
        <p:cNvGrpSpPr/>
        <p:nvPr/>
      </p:nvGrpSpPr>
      <p:grpSpPr>
        <a:xfrm>
          <a:off x="0" y="0"/>
          <a:ext cx="0" cy="0"/>
          <a:chOff x="0" y="0"/>
          <a:chExt cx="0" cy="0"/>
        </a:xfrm>
      </p:grpSpPr>
      <p:sp>
        <p:nvSpPr>
          <p:cNvPr id="234" name="Google Shape;234;g743690e8eb_0_10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743690e8eb_0_10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9" name="Shape 239"/>
        <p:cNvGrpSpPr/>
        <p:nvPr/>
      </p:nvGrpSpPr>
      <p:grpSpPr>
        <a:xfrm>
          <a:off x="0" y="0"/>
          <a:ext cx="0" cy="0"/>
          <a:chOff x="0" y="0"/>
          <a:chExt cx="0" cy="0"/>
        </a:xfrm>
      </p:grpSpPr>
      <p:sp>
        <p:nvSpPr>
          <p:cNvPr id="240" name="Google Shape;240;g743690e8eb_0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743690e8eb_0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5" name="Shape 245"/>
        <p:cNvGrpSpPr/>
        <p:nvPr/>
      </p:nvGrpSpPr>
      <p:grpSpPr>
        <a:xfrm>
          <a:off x="0" y="0"/>
          <a:ext cx="0" cy="0"/>
          <a:chOff x="0" y="0"/>
          <a:chExt cx="0" cy="0"/>
        </a:xfrm>
      </p:grpSpPr>
      <p:sp>
        <p:nvSpPr>
          <p:cNvPr id="246" name="Google Shape;246;g743690e8eb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743690e8eb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1" name="Shape 251"/>
        <p:cNvGrpSpPr/>
        <p:nvPr/>
      </p:nvGrpSpPr>
      <p:grpSpPr>
        <a:xfrm>
          <a:off x="0" y="0"/>
          <a:ext cx="0" cy="0"/>
          <a:chOff x="0" y="0"/>
          <a:chExt cx="0" cy="0"/>
        </a:xfrm>
      </p:grpSpPr>
      <p:sp>
        <p:nvSpPr>
          <p:cNvPr id="252" name="Google Shape;252;g743690e8eb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743690e8eb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Adding stacking and using cross evaluation and accuracy score.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7" name="Shape 257"/>
        <p:cNvGrpSpPr/>
        <p:nvPr/>
      </p:nvGrpSpPr>
      <p:grpSpPr>
        <a:xfrm>
          <a:off x="0" y="0"/>
          <a:ext cx="0" cy="0"/>
          <a:chOff x="0" y="0"/>
          <a:chExt cx="0" cy="0"/>
        </a:xfrm>
      </p:grpSpPr>
      <p:sp>
        <p:nvSpPr>
          <p:cNvPr id="258" name="Google Shape;258;g64c4ad9332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64c4ad9332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3" name="Shape 263"/>
        <p:cNvGrpSpPr/>
        <p:nvPr/>
      </p:nvGrpSpPr>
      <p:grpSpPr>
        <a:xfrm>
          <a:off x="0" y="0"/>
          <a:ext cx="0" cy="0"/>
          <a:chOff x="0" y="0"/>
          <a:chExt cx="0" cy="0"/>
        </a:xfrm>
      </p:grpSpPr>
      <p:sp>
        <p:nvSpPr>
          <p:cNvPr id="264" name="Google Shape;264;g743690e8eb_0_10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743690e8eb_0_10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9" name="Shape 269"/>
        <p:cNvGrpSpPr/>
        <p:nvPr/>
      </p:nvGrpSpPr>
      <p:grpSpPr>
        <a:xfrm>
          <a:off x="0" y="0"/>
          <a:ext cx="0" cy="0"/>
          <a:chOff x="0" y="0"/>
          <a:chExt cx="0" cy="0"/>
        </a:xfrm>
      </p:grpSpPr>
      <p:sp>
        <p:nvSpPr>
          <p:cNvPr id="270" name="Google Shape;270;g743690e8eb_0_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743690e8eb_0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4" name="Shape 274"/>
        <p:cNvGrpSpPr/>
        <p:nvPr/>
      </p:nvGrpSpPr>
      <p:grpSpPr>
        <a:xfrm>
          <a:off x="0" y="0"/>
          <a:ext cx="0" cy="0"/>
          <a:chOff x="0" y="0"/>
          <a:chExt cx="0" cy="0"/>
        </a:xfrm>
      </p:grpSpPr>
      <p:sp>
        <p:nvSpPr>
          <p:cNvPr id="275" name="Google Shape;275;g743690e8eb_0_10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743690e8eb_0_10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0" name="Shape 280"/>
        <p:cNvGrpSpPr/>
        <p:nvPr/>
      </p:nvGrpSpPr>
      <p:grpSpPr>
        <a:xfrm>
          <a:off x="0" y="0"/>
          <a:ext cx="0" cy="0"/>
          <a:chOff x="0" y="0"/>
          <a:chExt cx="0" cy="0"/>
        </a:xfrm>
      </p:grpSpPr>
      <p:sp>
        <p:nvSpPr>
          <p:cNvPr id="281" name="Google Shape;281;g743690e8eb_0_10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743690e8eb_0_10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Predicting Heart Disease Using Supervised Learning </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November 17, 2019</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Road Map </a:t>
            </a:r>
            <a:endParaRPr/>
          </a:p>
        </p:txBody>
      </p:sp>
      <p:sp>
        <p:nvSpPr>
          <p:cNvPr id="93" name="Google Shape;93;p1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Motivation </a:t>
            </a:r>
            <a:endParaRPr sz="1800"/>
          </a:p>
          <a:p>
            <a:pPr indent="-342900" lvl="0" marL="457200" rtl="0" algn="l">
              <a:spcBef>
                <a:spcPts val="0"/>
              </a:spcBef>
              <a:spcAft>
                <a:spcPts val="0"/>
              </a:spcAft>
              <a:buSzPts val="1800"/>
              <a:buChar char="●"/>
            </a:pPr>
            <a:r>
              <a:rPr lang="en" sz="1800"/>
              <a:t>Results </a:t>
            </a:r>
            <a:endParaRPr sz="1800"/>
          </a:p>
          <a:p>
            <a:pPr indent="-342900" lvl="0" marL="457200" rtl="0" algn="l">
              <a:spcBef>
                <a:spcPts val="0"/>
              </a:spcBef>
              <a:spcAft>
                <a:spcPts val="0"/>
              </a:spcAft>
              <a:buSzPts val="1800"/>
              <a:buChar char="●"/>
            </a:pPr>
            <a:r>
              <a:rPr lang="en" sz="1800"/>
              <a:t>Method</a:t>
            </a:r>
            <a:endParaRPr sz="1800"/>
          </a:p>
          <a:p>
            <a:pPr indent="-342900" lvl="1" marL="914400" rtl="0" algn="l">
              <a:spcBef>
                <a:spcPts val="0"/>
              </a:spcBef>
              <a:spcAft>
                <a:spcPts val="0"/>
              </a:spcAft>
              <a:buSzPts val="1800"/>
              <a:buChar char="○"/>
            </a:pPr>
            <a:r>
              <a:rPr lang="en" sz="1800"/>
              <a:t>Exploratory Data analysis </a:t>
            </a:r>
            <a:endParaRPr sz="1800"/>
          </a:p>
          <a:p>
            <a:pPr indent="-342900" lvl="1" marL="914400" rtl="0" algn="l">
              <a:spcBef>
                <a:spcPts val="0"/>
              </a:spcBef>
              <a:spcAft>
                <a:spcPts val="0"/>
              </a:spcAft>
              <a:buSzPts val="1800"/>
              <a:buChar char="○"/>
            </a:pPr>
            <a:r>
              <a:rPr lang="en" sz="1800"/>
              <a:t>Data Preparation </a:t>
            </a:r>
            <a:endParaRPr sz="1800"/>
          </a:p>
          <a:p>
            <a:pPr indent="-342900" lvl="1" marL="914400" rtl="0" algn="l">
              <a:spcBef>
                <a:spcPts val="0"/>
              </a:spcBef>
              <a:spcAft>
                <a:spcPts val="0"/>
              </a:spcAft>
              <a:buSzPts val="1800"/>
              <a:buChar char="○"/>
            </a:pPr>
            <a:r>
              <a:rPr lang="en" sz="1800"/>
              <a:t>Modelling, Classification and Evaluation </a:t>
            </a:r>
            <a:endParaRPr sz="1800"/>
          </a:p>
          <a:p>
            <a:pPr indent="-342900" lvl="0" marL="457200" rtl="0" algn="l">
              <a:spcBef>
                <a:spcPts val="0"/>
              </a:spcBef>
              <a:spcAft>
                <a:spcPts val="0"/>
              </a:spcAft>
              <a:buSzPts val="1800"/>
              <a:buChar char="●"/>
            </a:pPr>
            <a:r>
              <a:rPr lang="en" sz="1800"/>
              <a:t>Conclusion and next steps </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Motivation </a:t>
            </a:r>
            <a:endParaRPr/>
          </a:p>
        </p:txBody>
      </p:sp>
      <p:sp>
        <p:nvSpPr>
          <p:cNvPr id="99" name="Google Shape;99;p15"/>
          <p:cNvSpPr txBox="1"/>
          <p:nvPr>
            <p:ph idx="1" type="body"/>
          </p:nvPr>
        </p:nvSpPr>
        <p:spPr>
          <a:xfrm>
            <a:off x="729450" y="1774075"/>
            <a:ext cx="37332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000000"/>
                </a:solidFill>
              </a:rPr>
              <a:t>Heart disease is one of the major causes of death globally. Reliable and accurate detection of heart disease is one of the crucial steps in stopping preventable deaths caused by heart disease. With the advent of data science tools, there are many methods that can advance early detection and prognosis of cardiovascular diseases. </a:t>
            </a:r>
            <a:endParaRPr sz="1400">
              <a:solidFill>
                <a:srgbClr val="000000"/>
              </a:solidFill>
            </a:endParaRPr>
          </a:p>
          <a:p>
            <a:pPr indent="0" lvl="0" marL="0" rtl="0" algn="l">
              <a:spcBef>
                <a:spcPts val="1600"/>
              </a:spcBef>
              <a:spcAft>
                <a:spcPts val="1600"/>
              </a:spcAft>
              <a:buNone/>
            </a:pPr>
            <a:r>
              <a:rPr lang="en" sz="1400">
                <a:solidFill>
                  <a:srgbClr val="000000"/>
                </a:solidFill>
              </a:rPr>
              <a:t>Advancements in heart disease detection relying on indicators that are statistically determined to play a significant role in heart disease related deaths could save lives. </a:t>
            </a:r>
            <a:endParaRPr/>
          </a:p>
        </p:txBody>
      </p:sp>
      <p:sp>
        <p:nvSpPr>
          <p:cNvPr id="100" name="Google Shape;100;p15"/>
          <p:cNvSpPr txBox="1"/>
          <p:nvPr>
            <p:ph idx="1" type="body"/>
          </p:nvPr>
        </p:nvSpPr>
        <p:spPr>
          <a:xfrm>
            <a:off x="5225250" y="1393075"/>
            <a:ext cx="3733200" cy="36327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 sz="7200">
                <a:solidFill>
                  <a:srgbClr val="FF0000"/>
                </a:solidFill>
                <a:highlight>
                  <a:srgbClr val="FFFFFF"/>
                </a:highlight>
              </a:rPr>
              <a:t>1</a:t>
            </a:r>
            <a:r>
              <a:rPr b="1" lang="en" sz="7200">
                <a:solidFill>
                  <a:srgbClr val="000000"/>
                </a:solidFill>
              </a:rPr>
              <a:t>:4 </a:t>
            </a:r>
            <a:endParaRPr b="1" sz="7200">
              <a:solidFill>
                <a:srgbClr val="000000"/>
              </a:solidFill>
            </a:endParaRPr>
          </a:p>
          <a:p>
            <a:pPr indent="0" lvl="0" marL="0" rtl="0" algn="l">
              <a:lnSpc>
                <a:spcPct val="100000"/>
              </a:lnSpc>
              <a:spcBef>
                <a:spcPts val="1600"/>
              </a:spcBef>
              <a:spcAft>
                <a:spcPts val="0"/>
              </a:spcAft>
              <a:buNone/>
            </a:pPr>
            <a:r>
              <a:rPr b="1" lang="en" sz="1400">
                <a:solidFill>
                  <a:srgbClr val="000000"/>
                </a:solidFill>
              </a:rPr>
              <a:t>Deaths are caused by heart disease annually</a:t>
            </a:r>
            <a:endParaRPr b="1" sz="1400">
              <a:solidFill>
                <a:srgbClr val="000000"/>
              </a:solidFill>
            </a:endParaRPr>
          </a:p>
          <a:p>
            <a:pPr indent="0" lvl="0" marL="0" rtl="0" algn="ctr">
              <a:lnSpc>
                <a:spcPct val="100000"/>
              </a:lnSpc>
              <a:spcBef>
                <a:spcPts val="1600"/>
              </a:spcBef>
              <a:spcAft>
                <a:spcPts val="0"/>
              </a:spcAft>
              <a:buNone/>
            </a:pPr>
            <a:r>
              <a:rPr b="1" lang="en" sz="6000">
                <a:solidFill>
                  <a:srgbClr val="FF0000"/>
                </a:solidFill>
              </a:rPr>
              <a:t>735,000</a:t>
            </a:r>
            <a:endParaRPr b="1" sz="6000">
              <a:solidFill>
                <a:srgbClr val="FF0000"/>
              </a:solidFill>
            </a:endParaRPr>
          </a:p>
          <a:p>
            <a:pPr indent="0" lvl="0" marL="0" rtl="0" algn="ctr">
              <a:lnSpc>
                <a:spcPct val="100000"/>
              </a:lnSpc>
              <a:spcBef>
                <a:spcPts val="1600"/>
              </a:spcBef>
              <a:spcAft>
                <a:spcPts val="0"/>
              </a:spcAft>
              <a:buNone/>
            </a:pPr>
            <a:r>
              <a:rPr b="1" lang="en" sz="1400">
                <a:solidFill>
                  <a:schemeClr val="dk2"/>
                </a:solidFill>
              </a:rPr>
              <a:t>People have heart disease every year </a:t>
            </a:r>
            <a:endParaRPr b="1" sz="1400">
              <a:solidFill>
                <a:schemeClr val="dk2"/>
              </a:solidFill>
            </a:endParaRPr>
          </a:p>
          <a:p>
            <a:pPr indent="0" lvl="0" marL="0" rtl="0" algn="ctr">
              <a:lnSpc>
                <a:spcPct val="100000"/>
              </a:lnSpc>
              <a:spcBef>
                <a:spcPts val="1600"/>
              </a:spcBef>
              <a:spcAft>
                <a:spcPts val="1600"/>
              </a:spcAft>
              <a:buNone/>
            </a:pPr>
            <a:r>
              <a:rPr lang="en" sz="1000">
                <a:solidFill>
                  <a:schemeClr val="dk2"/>
                </a:solidFill>
              </a:rPr>
              <a:t>Source: Center for Disease Control and Prevention</a:t>
            </a:r>
            <a:endParaRPr sz="10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4" name="Shape 104"/>
        <p:cNvGrpSpPr/>
        <p:nvPr/>
      </p:nvGrpSpPr>
      <p:grpSpPr>
        <a:xfrm>
          <a:off x="0" y="0"/>
          <a:ext cx="0" cy="0"/>
          <a:chOff x="0" y="0"/>
          <a:chExt cx="0" cy="0"/>
        </a:xfrm>
      </p:grpSpPr>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set</a:t>
            </a:r>
            <a:endParaRPr/>
          </a:p>
        </p:txBody>
      </p:sp>
      <p:sp>
        <p:nvSpPr>
          <p:cNvPr id="106" name="Google Shape;106;p16"/>
          <p:cNvSpPr txBox="1"/>
          <p:nvPr>
            <p:ph idx="1" type="body"/>
          </p:nvPr>
        </p:nvSpPr>
        <p:spPr>
          <a:xfrm>
            <a:off x="729450" y="2078875"/>
            <a:ext cx="7688700" cy="290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u="sng"/>
              <a:t>Data Title: </a:t>
            </a:r>
            <a:r>
              <a:rPr lang="en" sz="1800"/>
              <a:t>Predicting Heart Disease</a:t>
            </a:r>
            <a:endParaRPr sz="1800"/>
          </a:p>
          <a:p>
            <a:pPr indent="0" lvl="0" marL="0" rtl="0" algn="l">
              <a:spcBef>
                <a:spcPts val="1600"/>
              </a:spcBef>
              <a:spcAft>
                <a:spcPts val="0"/>
              </a:spcAft>
              <a:buNone/>
            </a:pPr>
            <a:r>
              <a:rPr lang="en" sz="1800" u="sng"/>
              <a:t>Data Source:</a:t>
            </a:r>
            <a:r>
              <a:rPr lang="en" sz="1800"/>
              <a:t> </a:t>
            </a:r>
            <a:r>
              <a:rPr lang="en" sz="1800"/>
              <a:t>Cleveland Heart Disease Database via the UCI Machine Learning repository</a:t>
            </a:r>
            <a:endParaRPr sz="1800"/>
          </a:p>
          <a:p>
            <a:pPr indent="0" lvl="0" marL="0" rtl="0" algn="l">
              <a:spcBef>
                <a:spcPts val="1600"/>
              </a:spcBef>
              <a:spcAft>
                <a:spcPts val="0"/>
              </a:spcAft>
              <a:buNone/>
            </a:pPr>
            <a:r>
              <a:rPr lang="en" sz="1800" u="sng"/>
              <a:t>Shape: </a:t>
            </a:r>
            <a:r>
              <a:rPr lang="en" sz="1800"/>
              <a:t>(180 x 15)</a:t>
            </a:r>
            <a:endParaRPr sz="1800"/>
          </a:p>
          <a:p>
            <a:pPr indent="0" lvl="0" marL="0" rtl="0" algn="l">
              <a:spcBef>
                <a:spcPts val="1600"/>
              </a:spcBef>
              <a:spcAft>
                <a:spcPts val="0"/>
              </a:spcAft>
              <a:buNone/>
            </a:pPr>
            <a:r>
              <a:rPr lang="en" sz="1800" u="sng"/>
              <a:t>Outcome Variable : </a:t>
            </a:r>
            <a:r>
              <a:rPr lang="en" sz="1800"/>
              <a:t>Heart Disease Present</a:t>
            </a:r>
            <a:endParaRPr sz="1800"/>
          </a:p>
          <a:p>
            <a:pPr indent="0" lvl="0" marL="0" rtl="0" algn="l">
              <a:spcBef>
                <a:spcPts val="1600"/>
              </a:spcBef>
              <a:spcAft>
                <a:spcPts val="1600"/>
              </a:spcAft>
              <a:buNone/>
            </a:pPr>
            <a:r>
              <a:rPr lang="en" sz="1800" u="sng"/>
              <a:t>Features to be dropped :</a:t>
            </a:r>
            <a:r>
              <a:rPr lang="en" sz="1800"/>
              <a:t> patient_id</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0" name="Shape 110"/>
        <p:cNvGrpSpPr/>
        <p:nvPr/>
      </p:nvGrpSpPr>
      <p:grpSpPr>
        <a:xfrm>
          <a:off x="0" y="0"/>
          <a:ext cx="0" cy="0"/>
          <a:chOff x="0" y="0"/>
          <a:chExt cx="0" cy="0"/>
        </a:xfrm>
      </p:grpSpPr>
      <p:sp>
        <p:nvSpPr>
          <p:cNvPr id="111" name="Google Shape;111;p17"/>
          <p:cNvSpPr txBox="1"/>
          <p:nvPr>
            <p:ph type="title"/>
          </p:nvPr>
        </p:nvSpPr>
        <p:spPr>
          <a:xfrm>
            <a:off x="471900" y="662525"/>
            <a:ext cx="8222100" cy="76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Features</a:t>
            </a:r>
            <a:endParaRPr/>
          </a:p>
        </p:txBody>
      </p:sp>
      <p:pic>
        <p:nvPicPr>
          <p:cNvPr id="112" name="Google Shape;112;p17"/>
          <p:cNvPicPr preferRelativeResize="0"/>
          <p:nvPr/>
        </p:nvPicPr>
        <p:blipFill>
          <a:blip r:embed="rId3">
            <a:alphaModFix/>
          </a:blip>
          <a:stretch>
            <a:fillRect/>
          </a:stretch>
        </p:blipFill>
        <p:spPr>
          <a:xfrm>
            <a:off x="0" y="1284941"/>
            <a:ext cx="9143998" cy="379281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6" name="Shape 116"/>
        <p:cNvGrpSpPr/>
        <p:nvPr/>
      </p:nvGrpSpPr>
      <p:grpSpPr>
        <a:xfrm>
          <a:off x="0" y="0"/>
          <a:ext cx="0" cy="0"/>
          <a:chOff x="0" y="0"/>
          <a:chExt cx="0" cy="0"/>
        </a:xfrm>
      </p:grpSpPr>
      <p:sp>
        <p:nvSpPr>
          <p:cNvPr id="117" name="Google Shape;117;p18"/>
          <p:cNvSpPr txBox="1"/>
          <p:nvPr>
            <p:ph type="title"/>
          </p:nvPr>
        </p:nvSpPr>
        <p:spPr>
          <a:xfrm>
            <a:off x="471900" y="433925"/>
            <a:ext cx="8222100" cy="76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 Data Exploration </a:t>
            </a:r>
            <a:endParaRPr/>
          </a:p>
        </p:txBody>
      </p:sp>
      <p:pic>
        <p:nvPicPr>
          <p:cNvPr id="118" name="Google Shape;118;p18"/>
          <p:cNvPicPr preferRelativeResize="0"/>
          <p:nvPr/>
        </p:nvPicPr>
        <p:blipFill>
          <a:blip r:embed="rId3">
            <a:alphaModFix/>
          </a:blip>
          <a:stretch>
            <a:fillRect/>
          </a:stretch>
        </p:blipFill>
        <p:spPr>
          <a:xfrm>
            <a:off x="381000" y="1170125"/>
            <a:ext cx="8153691" cy="3820976"/>
          </a:xfrm>
          <a:prstGeom prst="rect">
            <a:avLst/>
          </a:prstGeom>
          <a:noFill/>
          <a:ln>
            <a:noFill/>
          </a:ln>
        </p:spPr>
      </p:pic>
      <p:sp>
        <p:nvSpPr>
          <p:cNvPr id="119" name="Google Shape;119;p18"/>
          <p:cNvSpPr/>
          <p:nvPr/>
        </p:nvSpPr>
        <p:spPr>
          <a:xfrm>
            <a:off x="3161025" y="3740725"/>
            <a:ext cx="207900" cy="1203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8"/>
          <p:cNvSpPr/>
          <p:nvPr/>
        </p:nvSpPr>
        <p:spPr>
          <a:xfrm>
            <a:off x="3161025" y="3893125"/>
            <a:ext cx="207900" cy="120300"/>
          </a:xfrm>
          <a:prstGeom prst="rect">
            <a:avLst/>
          </a:prstGeom>
          <a:solidFill>
            <a:srgbClr val="E6B8A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8"/>
          <p:cNvSpPr txBox="1"/>
          <p:nvPr/>
        </p:nvSpPr>
        <p:spPr>
          <a:xfrm>
            <a:off x="3314875" y="3675475"/>
            <a:ext cx="1214100" cy="26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latin typeface="Lato"/>
                <a:ea typeface="Lato"/>
                <a:cs typeface="Lato"/>
                <a:sym typeface="Lato"/>
              </a:rPr>
              <a:t>Heart disease present</a:t>
            </a:r>
            <a:endParaRPr sz="700">
              <a:latin typeface="Lato"/>
              <a:ea typeface="Lato"/>
              <a:cs typeface="Lato"/>
              <a:sym typeface="Lato"/>
            </a:endParaRPr>
          </a:p>
        </p:txBody>
      </p:sp>
      <p:sp>
        <p:nvSpPr>
          <p:cNvPr id="122" name="Google Shape;122;p18"/>
          <p:cNvSpPr txBox="1"/>
          <p:nvPr/>
        </p:nvSpPr>
        <p:spPr>
          <a:xfrm>
            <a:off x="3314875" y="3816775"/>
            <a:ext cx="1214100" cy="12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latin typeface="Lato"/>
                <a:ea typeface="Lato"/>
                <a:cs typeface="Lato"/>
                <a:sym typeface="Lato"/>
              </a:rPr>
              <a:t>Heart disease not  present</a:t>
            </a:r>
            <a:endParaRPr sz="700">
              <a:latin typeface="Lato"/>
              <a:ea typeface="Lato"/>
              <a:cs typeface="Lato"/>
              <a:sym typeface="Lato"/>
            </a:endParaRPr>
          </a:p>
        </p:txBody>
      </p:sp>
      <p:sp>
        <p:nvSpPr>
          <p:cNvPr id="123" name="Google Shape;123;p18"/>
          <p:cNvSpPr/>
          <p:nvPr/>
        </p:nvSpPr>
        <p:spPr>
          <a:xfrm>
            <a:off x="7809225" y="3740725"/>
            <a:ext cx="207900" cy="1203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8"/>
          <p:cNvSpPr/>
          <p:nvPr/>
        </p:nvSpPr>
        <p:spPr>
          <a:xfrm>
            <a:off x="7809225" y="3893125"/>
            <a:ext cx="207900" cy="120300"/>
          </a:xfrm>
          <a:prstGeom prst="rect">
            <a:avLst/>
          </a:prstGeom>
          <a:solidFill>
            <a:srgbClr val="E6B8A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8"/>
          <p:cNvSpPr txBox="1"/>
          <p:nvPr/>
        </p:nvSpPr>
        <p:spPr>
          <a:xfrm>
            <a:off x="7963075" y="3675475"/>
            <a:ext cx="1214100" cy="26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latin typeface="Lato"/>
                <a:ea typeface="Lato"/>
                <a:cs typeface="Lato"/>
                <a:sym typeface="Lato"/>
              </a:rPr>
              <a:t>Female</a:t>
            </a:r>
            <a:endParaRPr sz="700">
              <a:latin typeface="Lato"/>
              <a:ea typeface="Lato"/>
              <a:cs typeface="Lato"/>
              <a:sym typeface="Lato"/>
            </a:endParaRPr>
          </a:p>
        </p:txBody>
      </p:sp>
      <p:sp>
        <p:nvSpPr>
          <p:cNvPr id="126" name="Google Shape;126;p18"/>
          <p:cNvSpPr txBox="1"/>
          <p:nvPr/>
        </p:nvSpPr>
        <p:spPr>
          <a:xfrm>
            <a:off x="7963075" y="3816775"/>
            <a:ext cx="1214100" cy="12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latin typeface="Lato"/>
                <a:ea typeface="Lato"/>
                <a:cs typeface="Lato"/>
                <a:sym typeface="Lato"/>
              </a:rPr>
              <a:t>Male</a:t>
            </a:r>
            <a:endParaRPr sz="700">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0" name="Shape 130"/>
        <p:cNvGrpSpPr/>
        <p:nvPr/>
      </p:nvGrpSpPr>
      <p:grpSpPr>
        <a:xfrm>
          <a:off x="0" y="0"/>
          <a:ext cx="0" cy="0"/>
          <a:chOff x="0" y="0"/>
          <a:chExt cx="0" cy="0"/>
        </a:xfrm>
      </p:grpSpPr>
      <p:sp>
        <p:nvSpPr>
          <p:cNvPr id="131" name="Google Shape;131;p19"/>
          <p:cNvSpPr txBox="1"/>
          <p:nvPr>
            <p:ph type="title"/>
          </p:nvPr>
        </p:nvSpPr>
        <p:spPr>
          <a:xfrm>
            <a:off x="471900" y="433925"/>
            <a:ext cx="8222100" cy="76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 Data Exploration</a:t>
            </a:r>
            <a:endParaRPr/>
          </a:p>
        </p:txBody>
      </p:sp>
      <p:pic>
        <p:nvPicPr>
          <p:cNvPr id="132" name="Google Shape;132;p19"/>
          <p:cNvPicPr preferRelativeResize="0"/>
          <p:nvPr/>
        </p:nvPicPr>
        <p:blipFill>
          <a:blip r:embed="rId3">
            <a:alphaModFix/>
          </a:blip>
          <a:stretch>
            <a:fillRect/>
          </a:stretch>
        </p:blipFill>
        <p:spPr>
          <a:xfrm>
            <a:off x="381000" y="1017725"/>
            <a:ext cx="6915546" cy="3973374"/>
          </a:xfrm>
          <a:prstGeom prst="rect">
            <a:avLst/>
          </a:prstGeom>
          <a:noFill/>
          <a:ln>
            <a:noFill/>
          </a:ln>
        </p:spPr>
      </p:pic>
      <p:sp>
        <p:nvSpPr>
          <p:cNvPr id="133" name="Google Shape;133;p19"/>
          <p:cNvSpPr/>
          <p:nvPr/>
        </p:nvSpPr>
        <p:spPr>
          <a:xfrm>
            <a:off x="7580625" y="1226125"/>
            <a:ext cx="207900" cy="1203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9"/>
          <p:cNvSpPr/>
          <p:nvPr/>
        </p:nvSpPr>
        <p:spPr>
          <a:xfrm>
            <a:off x="7580625" y="1378525"/>
            <a:ext cx="207900" cy="120300"/>
          </a:xfrm>
          <a:prstGeom prst="rect">
            <a:avLst/>
          </a:prstGeom>
          <a:solidFill>
            <a:srgbClr val="E6B8A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9"/>
          <p:cNvSpPr txBox="1"/>
          <p:nvPr/>
        </p:nvSpPr>
        <p:spPr>
          <a:xfrm>
            <a:off x="7734475" y="1160875"/>
            <a:ext cx="1214100" cy="26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latin typeface="Lato"/>
                <a:ea typeface="Lato"/>
                <a:cs typeface="Lato"/>
                <a:sym typeface="Lato"/>
              </a:rPr>
              <a:t>Heart disease present</a:t>
            </a:r>
            <a:endParaRPr sz="700">
              <a:latin typeface="Lato"/>
              <a:ea typeface="Lato"/>
              <a:cs typeface="Lato"/>
              <a:sym typeface="Lato"/>
            </a:endParaRPr>
          </a:p>
        </p:txBody>
      </p:sp>
      <p:sp>
        <p:nvSpPr>
          <p:cNvPr id="136" name="Google Shape;136;p19"/>
          <p:cNvSpPr txBox="1"/>
          <p:nvPr/>
        </p:nvSpPr>
        <p:spPr>
          <a:xfrm>
            <a:off x="7734475" y="1302175"/>
            <a:ext cx="1214100" cy="12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latin typeface="Lato"/>
                <a:ea typeface="Lato"/>
                <a:cs typeface="Lato"/>
                <a:sym typeface="Lato"/>
              </a:rPr>
              <a:t>Heart disease not  present</a:t>
            </a:r>
            <a:endParaRPr sz="700">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0" name="Shape 140"/>
        <p:cNvGrpSpPr/>
        <p:nvPr/>
      </p:nvGrpSpPr>
      <p:grpSpPr>
        <a:xfrm>
          <a:off x="0" y="0"/>
          <a:ext cx="0" cy="0"/>
          <a:chOff x="0" y="0"/>
          <a:chExt cx="0" cy="0"/>
        </a:xfrm>
      </p:grpSpPr>
      <p:sp>
        <p:nvSpPr>
          <p:cNvPr id="141" name="Google Shape;141;p20"/>
          <p:cNvSpPr txBox="1"/>
          <p:nvPr>
            <p:ph type="title"/>
          </p:nvPr>
        </p:nvSpPr>
        <p:spPr>
          <a:xfrm>
            <a:off x="471900" y="433925"/>
            <a:ext cx="8222100" cy="76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 Data Exploration</a:t>
            </a:r>
            <a:endParaRPr/>
          </a:p>
        </p:txBody>
      </p:sp>
      <p:pic>
        <p:nvPicPr>
          <p:cNvPr id="142" name="Google Shape;142;p20"/>
          <p:cNvPicPr preferRelativeResize="0"/>
          <p:nvPr/>
        </p:nvPicPr>
        <p:blipFill>
          <a:blip r:embed="rId3">
            <a:alphaModFix/>
          </a:blip>
          <a:stretch>
            <a:fillRect/>
          </a:stretch>
        </p:blipFill>
        <p:spPr>
          <a:xfrm>
            <a:off x="152400" y="1170125"/>
            <a:ext cx="8839201" cy="3421302"/>
          </a:xfrm>
          <a:prstGeom prst="rect">
            <a:avLst/>
          </a:prstGeom>
          <a:noFill/>
          <a:ln>
            <a:noFill/>
          </a:ln>
        </p:spPr>
      </p:pic>
      <p:sp>
        <p:nvSpPr>
          <p:cNvPr id="143" name="Google Shape;143;p20"/>
          <p:cNvSpPr/>
          <p:nvPr/>
        </p:nvSpPr>
        <p:spPr>
          <a:xfrm>
            <a:off x="7656825" y="1607125"/>
            <a:ext cx="207900" cy="1203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0"/>
          <p:cNvSpPr/>
          <p:nvPr/>
        </p:nvSpPr>
        <p:spPr>
          <a:xfrm>
            <a:off x="7656825" y="1759525"/>
            <a:ext cx="207900" cy="120300"/>
          </a:xfrm>
          <a:prstGeom prst="rect">
            <a:avLst/>
          </a:prstGeom>
          <a:solidFill>
            <a:srgbClr val="E6B8A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0"/>
          <p:cNvSpPr txBox="1"/>
          <p:nvPr/>
        </p:nvSpPr>
        <p:spPr>
          <a:xfrm>
            <a:off x="7810675" y="1541875"/>
            <a:ext cx="1214100" cy="26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latin typeface="Lato"/>
                <a:ea typeface="Lato"/>
                <a:cs typeface="Lato"/>
                <a:sym typeface="Lato"/>
              </a:rPr>
              <a:t>Female</a:t>
            </a:r>
            <a:endParaRPr sz="700">
              <a:latin typeface="Lato"/>
              <a:ea typeface="Lato"/>
              <a:cs typeface="Lato"/>
              <a:sym typeface="Lato"/>
            </a:endParaRPr>
          </a:p>
        </p:txBody>
      </p:sp>
      <p:sp>
        <p:nvSpPr>
          <p:cNvPr id="146" name="Google Shape;146;p20"/>
          <p:cNvSpPr txBox="1"/>
          <p:nvPr/>
        </p:nvSpPr>
        <p:spPr>
          <a:xfrm>
            <a:off x="7810675" y="1683175"/>
            <a:ext cx="1214100" cy="12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latin typeface="Lato"/>
                <a:ea typeface="Lato"/>
                <a:cs typeface="Lato"/>
                <a:sym typeface="Lato"/>
              </a:rPr>
              <a:t>Male</a:t>
            </a:r>
            <a:endParaRPr sz="700">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0" name="Shape 150"/>
        <p:cNvGrpSpPr/>
        <p:nvPr/>
      </p:nvGrpSpPr>
      <p:grpSpPr>
        <a:xfrm>
          <a:off x="0" y="0"/>
          <a:ext cx="0" cy="0"/>
          <a:chOff x="0" y="0"/>
          <a:chExt cx="0" cy="0"/>
        </a:xfrm>
      </p:grpSpPr>
      <p:sp>
        <p:nvSpPr>
          <p:cNvPr id="151" name="Google Shape;151;p21"/>
          <p:cNvSpPr txBox="1"/>
          <p:nvPr>
            <p:ph type="title"/>
          </p:nvPr>
        </p:nvSpPr>
        <p:spPr>
          <a:xfrm>
            <a:off x="471900" y="433925"/>
            <a:ext cx="8222100" cy="76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 Data Exploration</a:t>
            </a:r>
            <a:endParaRPr/>
          </a:p>
        </p:txBody>
      </p:sp>
      <p:pic>
        <p:nvPicPr>
          <p:cNvPr id="152" name="Google Shape;152;p21"/>
          <p:cNvPicPr preferRelativeResize="0"/>
          <p:nvPr/>
        </p:nvPicPr>
        <p:blipFill>
          <a:blip r:embed="rId3">
            <a:alphaModFix/>
          </a:blip>
          <a:stretch>
            <a:fillRect/>
          </a:stretch>
        </p:blipFill>
        <p:spPr>
          <a:xfrm>
            <a:off x="1371600" y="1322525"/>
            <a:ext cx="5700382" cy="3820973"/>
          </a:xfrm>
          <a:prstGeom prst="rect">
            <a:avLst/>
          </a:prstGeom>
          <a:noFill/>
          <a:ln>
            <a:noFill/>
          </a:ln>
        </p:spPr>
      </p:pic>
      <p:sp>
        <p:nvSpPr>
          <p:cNvPr id="153" name="Google Shape;153;p21"/>
          <p:cNvSpPr txBox="1"/>
          <p:nvPr/>
        </p:nvSpPr>
        <p:spPr>
          <a:xfrm>
            <a:off x="1498100" y="865325"/>
            <a:ext cx="1826700" cy="37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Heart Disease by</a:t>
            </a:r>
            <a:endParaRPr sz="1000"/>
          </a:p>
          <a:p>
            <a:pPr indent="0" lvl="0" marL="0" rtl="0" algn="l">
              <a:spcBef>
                <a:spcPts val="0"/>
              </a:spcBef>
              <a:spcAft>
                <a:spcPts val="0"/>
              </a:spcAft>
              <a:buNone/>
            </a:pPr>
            <a:r>
              <a:rPr lang="en" sz="1000"/>
              <a:t>Peak Exercise ST Segment </a:t>
            </a:r>
            <a:endParaRPr sz="1000"/>
          </a:p>
        </p:txBody>
      </p:sp>
      <p:sp>
        <p:nvSpPr>
          <p:cNvPr id="154" name="Google Shape;154;p21"/>
          <p:cNvSpPr txBox="1"/>
          <p:nvPr/>
        </p:nvSpPr>
        <p:spPr>
          <a:xfrm>
            <a:off x="3479300" y="865325"/>
            <a:ext cx="1826700" cy="37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Heart Disease by</a:t>
            </a:r>
            <a:endParaRPr sz="1000"/>
          </a:p>
          <a:p>
            <a:pPr indent="0" lvl="0" marL="0" rtl="0" algn="l">
              <a:spcBef>
                <a:spcPts val="0"/>
              </a:spcBef>
              <a:spcAft>
                <a:spcPts val="0"/>
              </a:spcAft>
              <a:buNone/>
            </a:pPr>
            <a:r>
              <a:rPr lang="en" sz="1000"/>
              <a:t>Thal</a:t>
            </a:r>
            <a:endParaRPr sz="1000"/>
          </a:p>
        </p:txBody>
      </p:sp>
      <p:sp>
        <p:nvSpPr>
          <p:cNvPr id="155" name="Google Shape;155;p21"/>
          <p:cNvSpPr txBox="1"/>
          <p:nvPr/>
        </p:nvSpPr>
        <p:spPr>
          <a:xfrm>
            <a:off x="5308100" y="865325"/>
            <a:ext cx="1826700" cy="37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Heart Disease by</a:t>
            </a:r>
            <a:endParaRPr sz="1000"/>
          </a:p>
          <a:p>
            <a:pPr indent="0" lvl="0" marL="0" rtl="0" algn="l">
              <a:spcBef>
                <a:spcPts val="0"/>
              </a:spcBef>
              <a:spcAft>
                <a:spcPts val="0"/>
              </a:spcAft>
              <a:buNone/>
            </a:pPr>
            <a:r>
              <a:rPr lang="en" sz="1000"/>
              <a:t>Chest Pain Type</a:t>
            </a:r>
            <a:endParaRPr sz="1000"/>
          </a:p>
        </p:txBody>
      </p:sp>
      <p:sp>
        <p:nvSpPr>
          <p:cNvPr id="156" name="Google Shape;156;p21"/>
          <p:cNvSpPr/>
          <p:nvPr/>
        </p:nvSpPr>
        <p:spPr>
          <a:xfrm>
            <a:off x="7352025" y="1454725"/>
            <a:ext cx="207900" cy="1203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1"/>
          <p:cNvSpPr/>
          <p:nvPr/>
        </p:nvSpPr>
        <p:spPr>
          <a:xfrm>
            <a:off x="7352025" y="1607125"/>
            <a:ext cx="207900" cy="120300"/>
          </a:xfrm>
          <a:prstGeom prst="rect">
            <a:avLst/>
          </a:prstGeom>
          <a:solidFill>
            <a:srgbClr val="E6B8A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1"/>
          <p:cNvSpPr txBox="1"/>
          <p:nvPr/>
        </p:nvSpPr>
        <p:spPr>
          <a:xfrm>
            <a:off x="7505875" y="1389475"/>
            <a:ext cx="1214100" cy="26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latin typeface="Lato"/>
                <a:ea typeface="Lato"/>
                <a:cs typeface="Lato"/>
                <a:sym typeface="Lato"/>
              </a:rPr>
              <a:t>Heart disease present</a:t>
            </a:r>
            <a:endParaRPr sz="700">
              <a:latin typeface="Lato"/>
              <a:ea typeface="Lato"/>
              <a:cs typeface="Lato"/>
              <a:sym typeface="Lato"/>
            </a:endParaRPr>
          </a:p>
        </p:txBody>
      </p:sp>
      <p:sp>
        <p:nvSpPr>
          <p:cNvPr id="159" name="Google Shape;159;p21"/>
          <p:cNvSpPr txBox="1"/>
          <p:nvPr/>
        </p:nvSpPr>
        <p:spPr>
          <a:xfrm>
            <a:off x="7505875" y="1530775"/>
            <a:ext cx="1214100" cy="12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latin typeface="Lato"/>
                <a:ea typeface="Lato"/>
                <a:cs typeface="Lato"/>
                <a:sym typeface="Lato"/>
              </a:rPr>
              <a:t>Heart disease not  present</a:t>
            </a:r>
            <a:endParaRPr sz="700">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3" name="Shape 163"/>
        <p:cNvGrpSpPr/>
        <p:nvPr/>
      </p:nvGrpSpPr>
      <p:grpSpPr>
        <a:xfrm>
          <a:off x="0" y="0"/>
          <a:ext cx="0" cy="0"/>
          <a:chOff x="0" y="0"/>
          <a:chExt cx="0" cy="0"/>
        </a:xfrm>
      </p:grpSpPr>
      <p:sp>
        <p:nvSpPr>
          <p:cNvPr id="164" name="Google Shape;164;p22"/>
          <p:cNvSpPr txBox="1"/>
          <p:nvPr>
            <p:ph type="title"/>
          </p:nvPr>
        </p:nvSpPr>
        <p:spPr>
          <a:xfrm>
            <a:off x="471900" y="433925"/>
            <a:ext cx="8222100" cy="76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 Exploring the data </a:t>
            </a:r>
            <a:endParaRPr/>
          </a:p>
        </p:txBody>
      </p:sp>
      <p:pic>
        <p:nvPicPr>
          <p:cNvPr id="165" name="Google Shape;165;p22"/>
          <p:cNvPicPr preferRelativeResize="0"/>
          <p:nvPr/>
        </p:nvPicPr>
        <p:blipFill>
          <a:blip r:embed="rId3">
            <a:alphaModFix/>
          </a:blip>
          <a:stretch>
            <a:fillRect/>
          </a:stretch>
        </p:blipFill>
        <p:spPr>
          <a:xfrm>
            <a:off x="1295400" y="1322525"/>
            <a:ext cx="5715181" cy="3820973"/>
          </a:xfrm>
          <a:prstGeom prst="rect">
            <a:avLst/>
          </a:prstGeom>
          <a:noFill/>
          <a:ln>
            <a:noFill/>
          </a:ln>
        </p:spPr>
      </p:pic>
      <p:pic>
        <p:nvPicPr>
          <p:cNvPr id="166" name="Google Shape;166;p22"/>
          <p:cNvPicPr preferRelativeResize="0"/>
          <p:nvPr/>
        </p:nvPicPr>
        <p:blipFill>
          <a:blip r:embed="rId4">
            <a:alphaModFix/>
          </a:blip>
          <a:stretch>
            <a:fillRect/>
          </a:stretch>
        </p:blipFill>
        <p:spPr>
          <a:xfrm>
            <a:off x="6934381" y="1398725"/>
            <a:ext cx="1993167" cy="3820975"/>
          </a:xfrm>
          <a:prstGeom prst="rect">
            <a:avLst/>
          </a:prstGeom>
          <a:noFill/>
          <a:ln>
            <a:noFill/>
          </a:ln>
        </p:spPr>
      </p:pic>
      <p:sp>
        <p:nvSpPr>
          <p:cNvPr id="167" name="Google Shape;167;p22"/>
          <p:cNvSpPr txBox="1"/>
          <p:nvPr/>
        </p:nvSpPr>
        <p:spPr>
          <a:xfrm>
            <a:off x="1574300" y="865325"/>
            <a:ext cx="1826700" cy="37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Heart Disease by</a:t>
            </a:r>
            <a:endParaRPr sz="1000"/>
          </a:p>
          <a:p>
            <a:pPr indent="0" lvl="0" marL="0" rtl="0" algn="l">
              <a:spcBef>
                <a:spcPts val="0"/>
              </a:spcBef>
              <a:spcAft>
                <a:spcPts val="0"/>
              </a:spcAft>
              <a:buNone/>
            </a:pPr>
            <a:r>
              <a:rPr lang="en" sz="1000"/>
              <a:t>Number of Major Vessels</a:t>
            </a:r>
            <a:endParaRPr sz="1000"/>
          </a:p>
        </p:txBody>
      </p:sp>
      <p:sp>
        <p:nvSpPr>
          <p:cNvPr id="168" name="Google Shape;168;p22"/>
          <p:cNvSpPr txBox="1"/>
          <p:nvPr/>
        </p:nvSpPr>
        <p:spPr>
          <a:xfrm>
            <a:off x="3555500" y="865325"/>
            <a:ext cx="1826700" cy="37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Heart Disease by</a:t>
            </a:r>
            <a:endParaRPr sz="1000"/>
          </a:p>
          <a:p>
            <a:pPr indent="0" lvl="0" marL="0" rtl="0" algn="l">
              <a:spcBef>
                <a:spcPts val="0"/>
              </a:spcBef>
              <a:spcAft>
                <a:spcPts val="0"/>
              </a:spcAft>
              <a:buNone/>
            </a:pPr>
            <a:r>
              <a:rPr lang="en" sz="1000"/>
              <a:t>Fasting Blood Sugar</a:t>
            </a:r>
            <a:endParaRPr sz="1000"/>
          </a:p>
        </p:txBody>
      </p:sp>
      <p:sp>
        <p:nvSpPr>
          <p:cNvPr id="169" name="Google Shape;169;p22"/>
          <p:cNvSpPr txBox="1"/>
          <p:nvPr/>
        </p:nvSpPr>
        <p:spPr>
          <a:xfrm>
            <a:off x="5384300" y="865325"/>
            <a:ext cx="1826700" cy="37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Heart Disease by</a:t>
            </a:r>
            <a:endParaRPr sz="1000"/>
          </a:p>
          <a:p>
            <a:pPr indent="0" lvl="0" marL="0" rtl="0" algn="l">
              <a:spcBef>
                <a:spcPts val="0"/>
              </a:spcBef>
              <a:spcAft>
                <a:spcPts val="0"/>
              </a:spcAft>
              <a:buNone/>
            </a:pPr>
            <a:r>
              <a:rPr lang="en" sz="1000"/>
              <a:t>EKG Results</a:t>
            </a:r>
            <a:endParaRPr sz="1000"/>
          </a:p>
        </p:txBody>
      </p:sp>
      <p:sp>
        <p:nvSpPr>
          <p:cNvPr id="170" name="Google Shape;170;p22"/>
          <p:cNvSpPr txBox="1"/>
          <p:nvPr/>
        </p:nvSpPr>
        <p:spPr>
          <a:xfrm>
            <a:off x="7213100" y="865325"/>
            <a:ext cx="1826700" cy="37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Heart Disease by</a:t>
            </a:r>
            <a:endParaRPr sz="1000"/>
          </a:p>
          <a:p>
            <a:pPr indent="0" lvl="0" marL="0" rtl="0" algn="l">
              <a:spcBef>
                <a:spcPts val="0"/>
              </a:spcBef>
              <a:spcAft>
                <a:spcPts val="0"/>
              </a:spcAft>
              <a:buNone/>
            </a:pPr>
            <a:r>
              <a:rPr lang="en" sz="1000"/>
              <a:t>Exercise Induced Angina</a:t>
            </a:r>
            <a:endParaRPr sz="1000"/>
          </a:p>
        </p:txBody>
      </p:sp>
      <p:sp>
        <p:nvSpPr>
          <p:cNvPr id="171" name="Google Shape;171;p22"/>
          <p:cNvSpPr/>
          <p:nvPr/>
        </p:nvSpPr>
        <p:spPr>
          <a:xfrm>
            <a:off x="36825" y="4731325"/>
            <a:ext cx="207900" cy="1203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2"/>
          <p:cNvSpPr/>
          <p:nvPr/>
        </p:nvSpPr>
        <p:spPr>
          <a:xfrm>
            <a:off x="36825" y="4883725"/>
            <a:ext cx="207900" cy="120300"/>
          </a:xfrm>
          <a:prstGeom prst="rect">
            <a:avLst/>
          </a:prstGeom>
          <a:solidFill>
            <a:srgbClr val="E6B8A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2"/>
          <p:cNvSpPr txBox="1"/>
          <p:nvPr/>
        </p:nvSpPr>
        <p:spPr>
          <a:xfrm>
            <a:off x="190675" y="4666075"/>
            <a:ext cx="1214100" cy="26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latin typeface="Lato"/>
                <a:ea typeface="Lato"/>
                <a:cs typeface="Lato"/>
                <a:sym typeface="Lato"/>
              </a:rPr>
              <a:t>Heart disease present</a:t>
            </a:r>
            <a:endParaRPr sz="700">
              <a:latin typeface="Lato"/>
              <a:ea typeface="Lato"/>
              <a:cs typeface="Lato"/>
              <a:sym typeface="Lato"/>
            </a:endParaRPr>
          </a:p>
        </p:txBody>
      </p:sp>
      <p:sp>
        <p:nvSpPr>
          <p:cNvPr id="174" name="Google Shape;174;p22"/>
          <p:cNvSpPr txBox="1"/>
          <p:nvPr/>
        </p:nvSpPr>
        <p:spPr>
          <a:xfrm>
            <a:off x="190675" y="4807375"/>
            <a:ext cx="1214100" cy="12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latin typeface="Lato"/>
                <a:ea typeface="Lato"/>
                <a:cs typeface="Lato"/>
                <a:sym typeface="Lato"/>
              </a:rPr>
              <a:t>Heart disease not  present</a:t>
            </a:r>
            <a:endParaRPr sz="700">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8" name="Shape 178"/>
        <p:cNvGrpSpPr/>
        <p:nvPr/>
      </p:nvGrpSpPr>
      <p:grpSpPr>
        <a:xfrm>
          <a:off x="0" y="0"/>
          <a:ext cx="0" cy="0"/>
          <a:chOff x="0" y="0"/>
          <a:chExt cx="0" cy="0"/>
        </a:xfrm>
      </p:grpSpPr>
      <p:sp>
        <p:nvSpPr>
          <p:cNvPr id="179" name="Google Shape;179;p23"/>
          <p:cNvSpPr txBox="1"/>
          <p:nvPr>
            <p:ph type="title"/>
          </p:nvPr>
        </p:nvSpPr>
        <p:spPr>
          <a:xfrm>
            <a:off x="471900" y="357725"/>
            <a:ext cx="8222100" cy="76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 Exploring the data Correlations </a:t>
            </a:r>
            <a:endParaRPr/>
          </a:p>
        </p:txBody>
      </p:sp>
      <p:pic>
        <p:nvPicPr>
          <p:cNvPr id="180" name="Google Shape;180;p23"/>
          <p:cNvPicPr preferRelativeResize="0"/>
          <p:nvPr/>
        </p:nvPicPr>
        <p:blipFill>
          <a:blip r:embed="rId3">
            <a:alphaModFix/>
          </a:blip>
          <a:stretch>
            <a:fillRect/>
          </a:stretch>
        </p:blipFill>
        <p:spPr>
          <a:xfrm>
            <a:off x="2209800" y="1170125"/>
            <a:ext cx="4333393" cy="38209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4" name="Shape 184"/>
        <p:cNvGrpSpPr/>
        <p:nvPr/>
      </p:nvGrpSpPr>
      <p:grpSpPr>
        <a:xfrm>
          <a:off x="0" y="0"/>
          <a:ext cx="0" cy="0"/>
          <a:chOff x="0" y="0"/>
          <a:chExt cx="0" cy="0"/>
        </a:xfrm>
      </p:grpSpPr>
      <p:sp>
        <p:nvSpPr>
          <p:cNvPr id="185" name="Google Shape;185;p2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 Data Preparation </a:t>
            </a:r>
            <a:endParaRPr/>
          </a:p>
        </p:txBody>
      </p:sp>
      <p:sp>
        <p:nvSpPr>
          <p:cNvPr id="186" name="Google Shape;186;p2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The following categorical  features were binarized using get_dummies:</a:t>
            </a:r>
            <a:endParaRPr sz="1800"/>
          </a:p>
          <a:p>
            <a:pPr indent="-342900" lvl="0" marL="457200" rtl="0" algn="l">
              <a:spcBef>
                <a:spcPts val="1600"/>
              </a:spcBef>
              <a:spcAft>
                <a:spcPts val="0"/>
              </a:spcAft>
              <a:buSzPts val="1800"/>
              <a:buChar char="●"/>
            </a:pPr>
            <a:r>
              <a:rPr lang="en" sz="1800"/>
              <a:t>Slope of peak exercise</a:t>
            </a:r>
            <a:endParaRPr sz="1800"/>
          </a:p>
          <a:p>
            <a:pPr indent="-342900" lvl="0" marL="457200" rtl="0" algn="l">
              <a:spcBef>
                <a:spcPts val="0"/>
              </a:spcBef>
              <a:spcAft>
                <a:spcPts val="0"/>
              </a:spcAft>
              <a:buSzPts val="1800"/>
              <a:buChar char="●"/>
            </a:pPr>
            <a:r>
              <a:rPr lang="en" sz="1800"/>
              <a:t>Thal</a:t>
            </a:r>
            <a:endParaRPr sz="1800"/>
          </a:p>
          <a:p>
            <a:pPr indent="-342900" lvl="0" marL="457200" rtl="0" algn="l">
              <a:spcBef>
                <a:spcPts val="0"/>
              </a:spcBef>
              <a:spcAft>
                <a:spcPts val="0"/>
              </a:spcAft>
              <a:buSzPts val="1800"/>
              <a:buChar char="●"/>
            </a:pPr>
            <a:r>
              <a:rPr lang="en" sz="1800"/>
              <a:t>Chest pain type</a:t>
            </a:r>
            <a:endParaRPr sz="1800"/>
          </a:p>
          <a:p>
            <a:pPr indent="-342900" lvl="0" marL="457200" rtl="0" algn="l">
              <a:spcBef>
                <a:spcPts val="0"/>
              </a:spcBef>
              <a:spcAft>
                <a:spcPts val="0"/>
              </a:spcAft>
              <a:buSzPts val="1800"/>
              <a:buChar char="●"/>
            </a:pPr>
            <a:r>
              <a:rPr lang="en" sz="1800"/>
              <a:t>Number of major vessels</a:t>
            </a:r>
            <a:endParaRPr sz="1800"/>
          </a:p>
          <a:p>
            <a:pPr indent="-342900" lvl="0" marL="457200" rtl="0" algn="l">
              <a:spcBef>
                <a:spcPts val="0"/>
              </a:spcBef>
              <a:spcAft>
                <a:spcPts val="0"/>
              </a:spcAft>
              <a:buSzPts val="1800"/>
              <a:buChar char="●"/>
            </a:pPr>
            <a:r>
              <a:rPr lang="en" sz="1800"/>
              <a:t>Resting EKG results</a:t>
            </a:r>
            <a:endParaRPr sz="1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0" name="Shape 190"/>
        <p:cNvGrpSpPr/>
        <p:nvPr/>
      </p:nvGrpSpPr>
      <p:grpSpPr>
        <a:xfrm>
          <a:off x="0" y="0"/>
          <a:ext cx="0" cy="0"/>
          <a:chOff x="0" y="0"/>
          <a:chExt cx="0" cy="0"/>
        </a:xfrm>
      </p:grpSpPr>
      <p:sp>
        <p:nvSpPr>
          <p:cNvPr id="191" name="Google Shape;191;p2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Process</a:t>
            </a:r>
            <a:endParaRPr/>
          </a:p>
        </p:txBody>
      </p:sp>
      <p:grpSp>
        <p:nvGrpSpPr>
          <p:cNvPr id="192" name="Google Shape;192;p25"/>
          <p:cNvGrpSpPr/>
          <p:nvPr/>
        </p:nvGrpSpPr>
        <p:grpSpPr>
          <a:xfrm>
            <a:off x="0" y="1189989"/>
            <a:ext cx="2214600" cy="3217636"/>
            <a:chOff x="0" y="1189989"/>
            <a:chExt cx="2214600" cy="3217636"/>
          </a:xfrm>
        </p:grpSpPr>
        <p:sp>
          <p:nvSpPr>
            <p:cNvPr id="193" name="Google Shape;193;p25"/>
            <p:cNvSpPr/>
            <p:nvPr/>
          </p:nvSpPr>
          <p:spPr>
            <a:xfrm>
              <a:off x="0" y="1189989"/>
              <a:ext cx="2214600" cy="669000"/>
            </a:xfrm>
            <a:prstGeom prst="homePlate">
              <a:avLst>
                <a:gd fmla="val 50000" name="adj"/>
              </a:avLst>
            </a:prstGeom>
            <a:solidFill>
              <a:srgbClr val="8020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Outcome Variable:</a:t>
              </a:r>
              <a:endParaRPr>
                <a:solidFill>
                  <a:srgbClr val="FFFFFF"/>
                </a:solidFill>
                <a:latin typeface="Roboto"/>
                <a:ea typeface="Roboto"/>
                <a:cs typeface="Roboto"/>
                <a:sym typeface="Roboto"/>
              </a:endParaRPr>
            </a:p>
            <a:p>
              <a:pPr indent="0" lvl="0" marL="0" rtl="0" algn="ctr">
                <a:spcBef>
                  <a:spcPts val="0"/>
                </a:spcBef>
                <a:spcAft>
                  <a:spcPts val="0"/>
                </a:spcAft>
                <a:buNone/>
              </a:pPr>
              <a:r>
                <a:rPr lang="en">
                  <a:solidFill>
                    <a:srgbClr val="FFFFFF"/>
                  </a:solidFill>
                  <a:latin typeface="Roboto"/>
                  <a:ea typeface="Roboto"/>
                  <a:cs typeface="Roboto"/>
                  <a:sym typeface="Roboto"/>
                </a:rPr>
                <a:t>Categorical</a:t>
              </a:r>
              <a:endParaRPr>
                <a:solidFill>
                  <a:srgbClr val="FFFFFF"/>
                </a:solidFill>
                <a:latin typeface="Roboto"/>
                <a:ea typeface="Roboto"/>
                <a:cs typeface="Roboto"/>
                <a:sym typeface="Roboto"/>
              </a:endParaRPr>
            </a:p>
          </p:txBody>
        </p:sp>
        <p:sp>
          <p:nvSpPr>
            <p:cNvPr id="194" name="Google Shape;194;p25"/>
            <p:cNvSpPr txBox="1"/>
            <p:nvPr/>
          </p:nvSpPr>
          <p:spPr>
            <a:xfrm>
              <a:off x="2950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oboto"/>
                  <a:ea typeface="Roboto"/>
                  <a:cs typeface="Roboto"/>
                  <a:sym typeface="Roboto"/>
                </a:rPr>
                <a:t>Presence of Heart disease is indicated by binary (0,1)</a:t>
              </a:r>
              <a:endParaRPr sz="1100">
                <a:latin typeface="Roboto"/>
                <a:ea typeface="Roboto"/>
                <a:cs typeface="Roboto"/>
                <a:sym typeface="Roboto"/>
              </a:endParaRPr>
            </a:p>
          </p:txBody>
        </p:sp>
      </p:grpSp>
      <p:grpSp>
        <p:nvGrpSpPr>
          <p:cNvPr id="195" name="Google Shape;195;p25"/>
          <p:cNvGrpSpPr/>
          <p:nvPr/>
        </p:nvGrpSpPr>
        <p:grpSpPr>
          <a:xfrm>
            <a:off x="1838325" y="1189775"/>
            <a:ext cx="3518237" cy="4037625"/>
            <a:chOff x="1838325" y="1189775"/>
            <a:chExt cx="3518237" cy="4037625"/>
          </a:xfrm>
        </p:grpSpPr>
        <p:sp>
          <p:nvSpPr>
            <p:cNvPr id="196" name="Google Shape;196;p25"/>
            <p:cNvSpPr/>
            <p:nvPr/>
          </p:nvSpPr>
          <p:spPr>
            <a:xfrm>
              <a:off x="1838325" y="1189775"/>
              <a:ext cx="2064000" cy="669000"/>
            </a:xfrm>
            <a:prstGeom prst="chevron">
              <a:avLst>
                <a:gd fmla="val 50000" name="adj"/>
              </a:avLst>
            </a:prstGeom>
            <a:solidFill>
              <a:srgbClr val="A72A1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Data Splitting </a:t>
              </a:r>
              <a:endParaRPr>
                <a:solidFill>
                  <a:srgbClr val="FFFFFF"/>
                </a:solidFill>
                <a:latin typeface="Roboto"/>
                <a:ea typeface="Roboto"/>
                <a:cs typeface="Roboto"/>
                <a:sym typeface="Roboto"/>
              </a:endParaRPr>
            </a:p>
          </p:txBody>
        </p:sp>
        <p:sp>
          <p:nvSpPr>
            <p:cNvPr id="197" name="Google Shape;197;p25"/>
            <p:cNvSpPr txBox="1"/>
            <p:nvPr/>
          </p:nvSpPr>
          <p:spPr>
            <a:xfrm>
              <a:off x="3732063" y="2141000"/>
              <a:ext cx="1624500" cy="308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oboto"/>
                  <a:ea typeface="Roboto"/>
                  <a:cs typeface="Roboto"/>
                  <a:sym typeface="Roboto"/>
                </a:rPr>
                <a:t>In order to predict heart disease, classification methods will be used</a:t>
              </a:r>
              <a:endParaRPr sz="1100">
                <a:latin typeface="Roboto"/>
                <a:ea typeface="Roboto"/>
                <a:cs typeface="Roboto"/>
                <a:sym typeface="Roboto"/>
              </a:endParaRPr>
            </a:p>
            <a:p>
              <a:pPr indent="0" lvl="0" marL="0" rtl="0" algn="l">
                <a:lnSpc>
                  <a:spcPct val="115000"/>
                </a:lnSpc>
                <a:spcBef>
                  <a:spcPts val="0"/>
                </a:spcBef>
                <a:spcAft>
                  <a:spcPts val="0"/>
                </a:spcAft>
                <a:buNone/>
              </a:pPr>
              <a:r>
                <a:t/>
              </a:r>
              <a:endParaRPr sz="1100">
                <a:latin typeface="Roboto"/>
                <a:ea typeface="Roboto"/>
                <a:cs typeface="Roboto"/>
                <a:sym typeface="Roboto"/>
              </a:endParaRPr>
            </a:p>
            <a:p>
              <a:pPr indent="0" lvl="0" marL="0" rtl="0" algn="l">
                <a:lnSpc>
                  <a:spcPct val="115000"/>
                </a:lnSpc>
                <a:spcBef>
                  <a:spcPts val="0"/>
                </a:spcBef>
                <a:spcAft>
                  <a:spcPts val="0"/>
                </a:spcAft>
                <a:buNone/>
              </a:pPr>
              <a:r>
                <a:rPr lang="en" sz="1100">
                  <a:latin typeface="Roboto"/>
                  <a:ea typeface="Roboto"/>
                  <a:cs typeface="Roboto"/>
                  <a:sym typeface="Roboto"/>
                </a:rPr>
                <a:t>(Naive Bayes, Logistic Regression, KNN Classifier, Decision Tree, Random Forest, Bagging , Support Vector Models, Gradient Boosting Model, Ada Boosting and Stacking.</a:t>
              </a:r>
              <a:endParaRPr sz="1100">
                <a:latin typeface="Roboto"/>
                <a:ea typeface="Roboto"/>
                <a:cs typeface="Roboto"/>
                <a:sym typeface="Roboto"/>
              </a:endParaRPr>
            </a:p>
          </p:txBody>
        </p:sp>
      </p:grpSp>
      <p:grpSp>
        <p:nvGrpSpPr>
          <p:cNvPr id="198" name="Google Shape;198;p25"/>
          <p:cNvGrpSpPr/>
          <p:nvPr/>
        </p:nvGrpSpPr>
        <p:grpSpPr>
          <a:xfrm>
            <a:off x="2011325" y="1189775"/>
            <a:ext cx="3569425" cy="3217850"/>
            <a:chOff x="2011325" y="1189775"/>
            <a:chExt cx="3569425" cy="3217850"/>
          </a:xfrm>
        </p:grpSpPr>
        <p:sp>
          <p:nvSpPr>
            <p:cNvPr id="199" name="Google Shape;199;p25"/>
            <p:cNvSpPr/>
            <p:nvPr/>
          </p:nvSpPr>
          <p:spPr>
            <a:xfrm>
              <a:off x="3516750" y="1189775"/>
              <a:ext cx="2064000" cy="669000"/>
            </a:xfrm>
            <a:prstGeom prst="chevron">
              <a:avLst>
                <a:gd fmla="val 50000" name="adj"/>
              </a:avLst>
            </a:prstGeom>
            <a:solidFill>
              <a:srgbClr val="B02C2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Applying Classification Models</a:t>
              </a:r>
              <a:endParaRPr>
                <a:solidFill>
                  <a:srgbClr val="FFFFFF"/>
                </a:solidFill>
                <a:latin typeface="Roboto"/>
                <a:ea typeface="Roboto"/>
                <a:cs typeface="Roboto"/>
                <a:sym typeface="Roboto"/>
              </a:endParaRPr>
            </a:p>
          </p:txBody>
        </p:sp>
        <p:sp>
          <p:nvSpPr>
            <p:cNvPr id="200" name="Google Shape;200;p25"/>
            <p:cNvSpPr txBox="1"/>
            <p:nvPr/>
          </p:nvSpPr>
          <p:spPr>
            <a:xfrm>
              <a:off x="2011325"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oboto"/>
                  <a:ea typeface="Roboto"/>
                  <a:cs typeface="Roboto"/>
                  <a:sym typeface="Roboto"/>
                </a:rPr>
                <a:t>Data sets are split into Train and Test Sets using train_test_split from sklearn.model_selection. </a:t>
              </a:r>
              <a:endParaRPr sz="1100">
                <a:latin typeface="Roboto"/>
                <a:ea typeface="Roboto"/>
                <a:cs typeface="Roboto"/>
                <a:sym typeface="Roboto"/>
              </a:endParaRPr>
            </a:p>
          </p:txBody>
        </p:sp>
      </p:grpSp>
      <p:grpSp>
        <p:nvGrpSpPr>
          <p:cNvPr id="201" name="Google Shape;201;p25"/>
          <p:cNvGrpSpPr/>
          <p:nvPr/>
        </p:nvGrpSpPr>
        <p:grpSpPr>
          <a:xfrm>
            <a:off x="6874025" y="1189775"/>
            <a:ext cx="2064000" cy="3217850"/>
            <a:chOff x="6874025" y="1189775"/>
            <a:chExt cx="2064000" cy="3217850"/>
          </a:xfrm>
        </p:grpSpPr>
        <p:sp>
          <p:nvSpPr>
            <p:cNvPr id="202" name="Google Shape;202;p25"/>
            <p:cNvSpPr/>
            <p:nvPr/>
          </p:nvSpPr>
          <p:spPr>
            <a:xfrm>
              <a:off x="6874025" y="1189775"/>
              <a:ext cx="2064000" cy="669000"/>
            </a:xfrm>
            <a:prstGeom prst="chevron">
              <a:avLst>
                <a:gd fmla="val 50000" name="adj"/>
              </a:avLst>
            </a:prstGeom>
            <a:solidFill>
              <a:srgbClr val="D8382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Evaluation</a:t>
              </a:r>
              <a:endParaRPr>
                <a:solidFill>
                  <a:srgbClr val="FFFFFF"/>
                </a:solidFill>
                <a:latin typeface="Roboto"/>
                <a:ea typeface="Roboto"/>
                <a:cs typeface="Roboto"/>
                <a:sym typeface="Roboto"/>
              </a:endParaRPr>
            </a:p>
          </p:txBody>
        </p:sp>
        <p:sp>
          <p:nvSpPr>
            <p:cNvPr id="203" name="Google Shape;203;p25"/>
            <p:cNvSpPr txBox="1"/>
            <p:nvPr/>
          </p:nvSpPr>
          <p:spPr>
            <a:xfrm>
              <a:off x="71838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oboto"/>
                  <a:ea typeface="Roboto"/>
                  <a:cs typeface="Roboto"/>
                  <a:sym typeface="Roboto"/>
                </a:rPr>
                <a:t>To evaluate the performance of the different classifiers accuracy scores are used (metrics.accuracy_score), as well as classification reports (classification_report).</a:t>
              </a:r>
              <a:endParaRPr sz="1100">
                <a:latin typeface="Roboto"/>
                <a:ea typeface="Roboto"/>
                <a:cs typeface="Roboto"/>
                <a:sym typeface="Roboto"/>
              </a:endParaRPr>
            </a:p>
          </p:txBody>
        </p:sp>
      </p:grpSp>
      <p:grpSp>
        <p:nvGrpSpPr>
          <p:cNvPr id="204" name="Google Shape;204;p25"/>
          <p:cNvGrpSpPr/>
          <p:nvPr/>
        </p:nvGrpSpPr>
        <p:grpSpPr>
          <a:xfrm>
            <a:off x="5195350" y="1189775"/>
            <a:ext cx="2064000" cy="3217850"/>
            <a:chOff x="5195350" y="1189775"/>
            <a:chExt cx="2064000" cy="3217850"/>
          </a:xfrm>
        </p:grpSpPr>
        <p:sp>
          <p:nvSpPr>
            <p:cNvPr id="205" name="Google Shape;205;p25"/>
            <p:cNvSpPr/>
            <p:nvPr/>
          </p:nvSpPr>
          <p:spPr>
            <a:xfrm>
              <a:off x="5195350" y="1189775"/>
              <a:ext cx="2064000" cy="669000"/>
            </a:xfrm>
            <a:prstGeom prst="chevron">
              <a:avLst>
                <a:gd fmla="val 50000" name="adj"/>
              </a:avLst>
            </a:prstGeom>
            <a:solidFill>
              <a:srgbClr val="BE2F2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Model Tuning</a:t>
              </a:r>
              <a:endParaRPr>
                <a:solidFill>
                  <a:srgbClr val="FFFFFF"/>
                </a:solidFill>
                <a:latin typeface="Roboto"/>
                <a:ea typeface="Roboto"/>
                <a:cs typeface="Roboto"/>
                <a:sym typeface="Roboto"/>
              </a:endParaRPr>
            </a:p>
          </p:txBody>
        </p:sp>
        <p:sp>
          <p:nvSpPr>
            <p:cNvPr id="206" name="Google Shape;206;p25"/>
            <p:cNvSpPr txBox="1"/>
            <p:nvPr/>
          </p:nvSpPr>
          <p:spPr>
            <a:xfrm>
              <a:off x="54616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oboto"/>
                  <a:ea typeface="Roboto"/>
                  <a:cs typeface="Roboto"/>
                  <a:sym typeface="Roboto"/>
                </a:rPr>
                <a:t>Each model requires different type of tuning. </a:t>
              </a:r>
              <a:endParaRPr sz="1100">
                <a:latin typeface="Roboto"/>
                <a:ea typeface="Roboto"/>
                <a:cs typeface="Roboto"/>
                <a:sym typeface="Roboto"/>
              </a:endParaRPr>
            </a:p>
          </p:txBody>
        </p:sp>
      </p:grpSp>
      <p:sp>
        <p:nvSpPr>
          <p:cNvPr id="207" name="Google Shape;207;p25"/>
          <p:cNvSpPr txBox="1"/>
          <p:nvPr>
            <p:ph type="title"/>
          </p:nvPr>
        </p:nvSpPr>
        <p:spPr>
          <a:xfrm>
            <a:off x="471900" y="586325"/>
            <a:ext cx="8222100" cy="76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 Modelling &amp; Evaluation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1" name="Shape 211"/>
        <p:cNvGrpSpPr/>
        <p:nvPr/>
      </p:nvGrpSpPr>
      <p:grpSpPr>
        <a:xfrm>
          <a:off x="0" y="0"/>
          <a:ext cx="0" cy="0"/>
          <a:chOff x="0" y="0"/>
          <a:chExt cx="0" cy="0"/>
        </a:xfrm>
      </p:grpSpPr>
      <p:sp>
        <p:nvSpPr>
          <p:cNvPr id="212" name="Google Shape;212;p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 Naive Bayes</a:t>
            </a:r>
            <a:endParaRPr/>
          </a:p>
        </p:txBody>
      </p:sp>
      <p:sp>
        <p:nvSpPr>
          <p:cNvPr id="213" name="Google Shape;213;p26"/>
          <p:cNvSpPr txBox="1"/>
          <p:nvPr>
            <p:ph idx="1" type="body"/>
          </p:nvPr>
        </p:nvSpPr>
        <p:spPr>
          <a:xfrm>
            <a:off x="729450" y="1926475"/>
            <a:ext cx="7688700" cy="22611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800"/>
              <a:t>Data Set Features: mixed data types (categorical and continuous). The following process is applied:</a:t>
            </a:r>
            <a:endParaRPr sz="1400"/>
          </a:p>
          <a:p>
            <a:pPr indent="-342900" lvl="1" marL="914400" rtl="0" algn="l">
              <a:spcBef>
                <a:spcPts val="0"/>
              </a:spcBef>
              <a:spcAft>
                <a:spcPts val="0"/>
              </a:spcAft>
              <a:buSzPts val="1800"/>
              <a:buAutoNum type="alphaLcPeriod"/>
            </a:pPr>
            <a:r>
              <a:rPr lang="en" sz="1800"/>
              <a:t>Data is divided according to data type.</a:t>
            </a:r>
            <a:endParaRPr sz="1800"/>
          </a:p>
          <a:p>
            <a:pPr indent="-342900" lvl="1" marL="914400" rtl="0" algn="l">
              <a:spcBef>
                <a:spcPts val="0"/>
              </a:spcBef>
              <a:spcAft>
                <a:spcPts val="0"/>
              </a:spcAft>
              <a:buSzPts val="1800"/>
              <a:buAutoNum type="alphaLcPeriod"/>
            </a:pPr>
            <a:r>
              <a:rPr lang="en" sz="1800"/>
              <a:t>For categorical data, the Bernoulli model is used (BernoulliNB).</a:t>
            </a:r>
            <a:endParaRPr sz="1800"/>
          </a:p>
          <a:p>
            <a:pPr indent="-342900" lvl="1" marL="914400" rtl="0" algn="l">
              <a:spcBef>
                <a:spcPts val="0"/>
              </a:spcBef>
              <a:spcAft>
                <a:spcPts val="0"/>
              </a:spcAft>
              <a:buSzPts val="1800"/>
              <a:buAutoNum type="alphaLcPeriod"/>
            </a:pPr>
            <a:r>
              <a:rPr lang="en" sz="1800"/>
              <a:t>For continuous data, the Gaussian model is used (GaussianNB).</a:t>
            </a:r>
            <a:endParaRPr sz="1800"/>
          </a:p>
          <a:p>
            <a:pPr indent="-342900" lvl="2" marL="1371600" rtl="0" algn="l">
              <a:spcBef>
                <a:spcPts val="0"/>
              </a:spcBef>
              <a:spcAft>
                <a:spcPts val="0"/>
              </a:spcAft>
              <a:buSzPts val="1800"/>
              <a:buChar char="■"/>
            </a:pPr>
            <a:r>
              <a:rPr lang="en" sz="1800"/>
              <a:t> Features (Age, Max heart rate achieved, ST Depression, Resting blood pressure and Serum cholesterol) are normalized using .sqrt)</a:t>
            </a:r>
            <a:endParaRPr sz="1800"/>
          </a:p>
          <a:p>
            <a:pPr indent="-342900" lvl="1" marL="914400" rtl="0" algn="l">
              <a:spcBef>
                <a:spcPts val="0"/>
              </a:spcBef>
              <a:spcAft>
                <a:spcPts val="0"/>
              </a:spcAft>
              <a:buSzPts val="1800"/>
              <a:buAutoNum type="alphaLcPeriod"/>
            </a:pPr>
            <a:r>
              <a:rPr lang="en" sz="1800"/>
              <a:t>The probabilities for outcomes from both models are added, averaged and binarized. </a:t>
            </a: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7" name="Shape 217"/>
        <p:cNvGrpSpPr/>
        <p:nvPr/>
      </p:nvGrpSpPr>
      <p:grpSpPr>
        <a:xfrm>
          <a:off x="0" y="0"/>
          <a:ext cx="0" cy="0"/>
          <a:chOff x="0" y="0"/>
          <a:chExt cx="0" cy="0"/>
        </a:xfrm>
      </p:grpSpPr>
      <p:sp>
        <p:nvSpPr>
          <p:cNvPr id="218" name="Google Shape;218;p2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 Feature Engineering </a:t>
            </a:r>
            <a:endParaRPr/>
          </a:p>
        </p:txBody>
      </p:sp>
      <p:sp>
        <p:nvSpPr>
          <p:cNvPr id="219" name="Google Shape;219;p27"/>
          <p:cNvSpPr txBox="1"/>
          <p:nvPr>
            <p:ph idx="1" type="body"/>
          </p:nvPr>
        </p:nvSpPr>
        <p:spPr>
          <a:xfrm>
            <a:off x="729450" y="1850275"/>
            <a:ext cx="7688700" cy="329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Feature engineering: </a:t>
            </a:r>
            <a:endParaRPr sz="1800"/>
          </a:p>
          <a:p>
            <a:pPr indent="-342900" lvl="0" marL="457200" rtl="0" algn="l">
              <a:spcBef>
                <a:spcPts val="1600"/>
              </a:spcBef>
              <a:spcAft>
                <a:spcPts val="0"/>
              </a:spcAft>
              <a:buSzPts val="1800"/>
              <a:buAutoNum type="arabicPeriod"/>
            </a:pPr>
            <a:r>
              <a:rPr lang="en" sz="1800"/>
              <a:t>Converted to dummy variables </a:t>
            </a:r>
            <a:endParaRPr sz="1800"/>
          </a:p>
          <a:p>
            <a:pPr indent="-342900" lvl="0" marL="457200" rtl="0" algn="l">
              <a:spcBef>
                <a:spcPts val="0"/>
              </a:spcBef>
              <a:spcAft>
                <a:spcPts val="0"/>
              </a:spcAft>
              <a:buSzPts val="1800"/>
              <a:buAutoNum type="arabicPeriod"/>
            </a:pPr>
            <a:r>
              <a:rPr lang="en" sz="1800"/>
              <a:t>Normalized data </a:t>
            </a:r>
            <a:endParaRPr sz="1800"/>
          </a:p>
          <a:p>
            <a:pPr indent="-342900" lvl="0" marL="457200" rtl="0" algn="l">
              <a:spcBef>
                <a:spcPts val="0"/>
              </a:spcBef>
              <a:spcAft>
                <a:spcPts val="0"/>
              </a:spcAft>
              <a:buSzPts val="1800"/>
              <a:buAutoNum type="arabicPeriod"/>
            </a:pPr>
            <a:r>
              <a:rPr lang="en" sz="1800"/>
              <a:t>Experimented with combining features</a:t>
            </a:r>
            <a:endParaRPr sz="1800"/>
          </a:p>
          <a:p>
            <a:pPr indent="0" lvl="0" marL="0" rtl="0" algn="l">
              <a:spcBef>
                <a:spcPts val="1600"/>
              </a:spcBef>
              <a:spcAft>
                <a:spcPts val="0"/>
              </a:spcAft>
              <a:buNone/>
            </a:pPr>
            <a:r>
              <a:rPr lang="en" sz="1800"/>
              <a:t>Feature Selection:</a:t>
            </a:r>
            <a:endParaRPr sz="1800"/>
          </a:p>
          <a:p>
            <a:pPr indent="-342900" lvl="0" marL="457200" rtl="0" algn="l">
              <a:spcBef>
                <a:spcPts val="1600"/>
              </a:spcBef>
              <a:spcAft>
                <a:spcPts val="0"/>
              </a:spcAft>
              <a:buSzPts val="1800"/>
              <a:buAutoNum type="arabicPeriod"/>
            </a:pPr>
            <a:r>
              <a:rPr lang="en" sz="1800"/>
              <a:t>Feature selection tool from Gradient Boosting Model</a:t>
            </a:r>
            <a:endParaRPr sz="1800"/>
          </a:p>
          <a:p>
            <a:pPr indent="-342900" lvl="0" marL="457200" rtl="0" algn="l">
              <a:spcBef>
                <a:spcPts val="0"/>
              </a:spcBef>
              <a:spcAft>
                <a:spcPts val="0"/>
              </a:spcAft>
              <a:buSzPts val="1800"/>
              <a:buAutoNum type="arabicPeriod"/>
            </a:pPr>
            <a:r>
              <a:rPr lang="en" sz="1800"/>
              <a:t>KBest feature selection tool </a:t>
            </a:r>
            <a:endParaRPr sz="1800"/>
          </a:p>
          <a:p>
            <a:pPr indent="0" lvl="0" marL="0" rtl="0" algn="l">
              <a:spcBef>
                <a:spcPts val="1600"/>
              </a:spcBef>
              <a:spcAft>
                <a:spcPts val="1600"/>
              </a:spcAft>
              <a:buNone/>
            </a:pPr>
            <a:r>
              <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3" name="Shape 223"/>
        <p:cNvGrpSpPr/>
        <p:nvPr/>
      </p:nvGrpSpPr>
      <p:grpSpPr>
        <a:xfrm>
          <a:off x="0" y="0"/>
          <a:ext cx="0" cy="0"/>
          <a:chOff x="0" y="0"/>
          <a:chExt cx="0" cy="0"/>
        </a:xfrm>
      </p:grpSpPr>
      <p:sp>
        <p:nvSpPr>
          <p:cNvPr id="224" name="Google Shape;224;p28"/>
          <p:cNvSpPr txBox="1"/>
          <p:nvPr>
            <p:ph type="title"/>
          </p:nvPr>
        </p:nvSpPr>
        <p:spPr>
          <a:xfrm>
            <a:off x="653250" y="480450"/>
            <a:ext cx="89835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 :Feature Selection (Gradient Boosting Model)</a:t>
            </a:r>
            <a:endParaRPr/>
          </a:p>
        </p:txBody>
      </p:sp>
      <p:sp>
        <p:nvSpPr>
          <p:cNvPr id="225" name="Google Shape;225;p28"/>
          <p:cNvSpPr txBox="1"/>
          <p:nvPr>
            <p:ph idx="1" type="body"/>
          </p:nvPr>
        </p:nvSpPr>
        <p:spPr>
          <a:xfrm>
            <a:off x="235500" y="1457275"/>
            <a:ext cx="47721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The outcome variable in this project is presence of heart disease. Relying on Feature Importance tool (Gradient Boosting Model), the features that determine the outcome are:</a:t>
            </a:r>
            <a:endParaRPr sz="1800"/>
          </a:p>
          <a:p>
            <a:pPr indent="-342900" lvl="0" marL="457200" rtl="0" algn="l">
              <a:spcBef>
                <a:spcPts val="1600"/>
              </a:spcBef>
              <a:spcAft>
                <a:spcPts val="0"/>
              </a:spcAft>
              <a:buSzPts val="1800"/>
              <a:buChar char="●"/>
            </a:pPr>
            <a:r>
              <a:rPr lang="en" sz="1800"/>
              <a:t>ST Depression</a:t>
            </a:r>
            <a:endParaRPr sz="1800"/>
          </a:p>
          <a:p>
            <a:pPr indent="-342900" lvl="0" marL="457200" rtl="0" algn="l">
              <a:spcBef>
                <a:spcPts val="0"/>
              </a:spcBef>
              <a:spcAft>
                <a:spcPts val="0"/>
              </a:spcAft>
              <a:buSzPts val="1800"/>
              <a:buChar char="●"/>
            </a:pPr>
            <a:r>
              <a:rPr lang="en" sz="1800"/>
              <a:t>Chest Pain Type </a:t>
            </a:r>
            <a:endParaRPr sz="1800"/>
          </a:p>
          <a:p>
            <a:pPr indent="-342900" lvl="0" marL="457200" rtl="0" algn="l">
              <a:spcBef>
                <a:spcPts val="0"/>
              </a:spcBef>
              <a:spcAft>
                <a:spcPts val="0"/>
              </a:spcAft>
              <a:buSzPts val="1800"/>
              <a:buChar char="●"/>
            </a:pPr>
            <a:r>
              <a:rPr lang="en" sz="1800"/>
              <a:t>Thal</a:t>
            </a:r>
            <a:endParaRPr sz="1800"/>
          </a:p>
          <a:p>
            <a:pPr indent="-342900" lvl="0" marL="457200" rtl="0" algn="l">
              <a:spcBef>
                <a:spcPts val="0"/>
              </a:spcBef>
              <a:spcAft>
                <a:spcPts val="0"/>
              </a:spcAft>
              <a:buSzPts val="1800"/>
              <a:buChar char="●"/>
            </a:pPr>
            <a:r>
              <a:rPr lang="en" sz="1800"/>
              <a:t>Age</a:t>
            </a:r>
            <a:endParaRPr sz="1800"/>
          </a:p>
          <a:p>
            <a:pPr indent="-342900" lvl="0" marL="457200" rtl="0" algn="l">
              <a:spcBef>
                <a:spcPts val="0"/>
              </a:spcBef>
              <a:spcAft>
                <a:spcPts val="0"/>
              </a:spcAft>
              <a:buSzPts val="1800"/>
              <a:buChar char="●"/>
            </a:pPr>
            <a:r>
              <a:rPr lang="en" sz="1800"/>
              <a:t>Max Heart Rate Achieved </a:t>
            </a:r>
            <a:endParaRPr sz="1800"/>
          </a:p>
          <a:p>
            <a:pPr indent="0" lvl="0" marL="0" rtl="0" algn="l">
              <a:spcBef>
                <a:spcPts val="1600"/>
              </a:spcBef>
              <a:spcAft>
                <a:spcPts val="1600"/>
              </a:spcAft>
              <a:buNone/>
            </a:pPr>
            <a:r>
              <a:t/>
            </a:r>
            <a:endParaRPr sz="1800"/>
          </a:p>
        </p:txBody>
      </p:sp>
      <p:pic>
        <p:nvPicPr>
          <p:cNvPr id="226" name="Google Shape;226;p28"/>
          <p:cNvPicPr preferRelativeResize="0"/>
          <p:nvPr/>
        </p:nvPicPr>
        <p:blipFill>
          <a:blip r:embed="rId3">
            <a:alphaModFix/>
          </a:blip>
          <a:stretch>
            <a:fillRect/>
          </a:stretch>
        </p:blipFill>
        <p:spPr>
          <a:xfrm>
            <a:off x="4876350" y="1013200"/>
            <a:ext cx="4116650" cy="39209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0" name="Shape 230"/>
        <p:cNvGrpSpPr/>
        <p:nvPr/>
      </p:nvGrpSpPr>
      <p:grpSpPr>
        <a:xfrm>
          <a:off x="0" y="0"/>
          <a:ext cx="0" cy="0"/>
          <a:chOff x="0" y="0"/>
          <a:chExt cx="0" cy="0"/>
        </a:xfrm>
      </p:grpSpPr>
      <p:sp>
        <p:nvSpPr>
          <p:cNvPr id="231" name="Google Shape;231;p29"/>
          <p:cNvSpPr txBox="1"/>
          <p:nvPr>
            <p:ph type="title"/>
          </p:nvPr>
        </p:nvSpPr>
        <p:spPr>
          <a:xfrm>
            <a:off x="729450" y="12424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 Feature Selection (Select K best )</a:t>
            </a:r>
            <a:endParaRPr/>
          </a:p>
        </p:txBody>
      </p:sp>
      <p:sp>
        <p:nvSpPr>
          <p:cNvPr id="232" name="Google Shape;232;p29"/>
          <p:cNvSpPr txBox="1"/>
          <p:nvPr>
            <p:ph idx="1" type="body"/>
          </p:nvPr>
        </p:nvSpPr>
        <p:spPr>
          <a:xfrm>
            <a:off x="768900" y="2243325"/>
            <a:ext cx="85371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Relying on Feature Importance tool (Gradient Boosting Model), the features that determine the outcome are:</a:t>
            </a:r>
            <a:endParaRPr sz="1800"/>
          </a:p>
          <a:p>
            <a:pPr indent="-342900" lvl="0" marL="457200" rtl="0" algn="l">
              <a:spcBef>
                <a:spcPts val="1600"/>
              </a:spcBef>
              <a:spcAft>
                <a:spcPts val="0"/>
              </a:spcAft>
              <a:buSzPts val="1800"/>
              <a:buChar char="●"/>
            </a:pPr>
            <a:r>
              <a:rPr lang="en" sz="1800"/>
              <a:t>Max Heart Rate Achieved</a:t>
            </a:r>
            <a:endParaRPr sz="1800"/>
          </a:p>
          <a:p>
            <a:pPr indent="-342900" lvl="0" marL="457200" rtl="0" algn="l">
              <a:spcBef>
                <a:spcPts val="0"/>
              </a:spcBef>
              <a:spcAft>
                <a:spcPts val="0"/>
              </a:spcAft>
              <a:buSzPts val="1800"/>
              <a:buChar char="●"/>
            </a:pPr>
            <a:r>
              <a:rPr lang="en" sz="1800"/>
              <a:t>ST Depression </a:t>
            </a:r>
            <a:endParaRPr sz="1800"/>
          </a:p>
          <a:p>
            <a:pPr indent="-342900" lvl="0" marL="457200" rtl="0" algn="l">
              <a:spcBef>
                <a:spcPts val="0"/>
              </a:spcBef>
              <a:spcAft>
                <a:spcPts val="0"/>
              </a:spcAft>
              <a:buSzPts val="1800"/>
              <a:buChar char="●"/>
            </a:pPr>
            <a:r>
              <a:rPr lang="en" sz="1800"/>
              <a:t>Exercise Induced Angina</a:t>
            </a:r>
            <a:endParaRPr sz="1800"/>
          </a:p>
          <a:p>
            <a:pPr indent="-342900" lvl="0" marL="457200" rtl="0" algn="l">
              <a:spcBef>
                <a:spcPts val="0"/>
              </a:spcBef>
              <a:spcAft>
                <a:spcPts val="0"/>
              </a:spcAft>
              <a:buSzPts val="1800"/>
              <a:buChar char="●"/>
            </a:pPr>
            <a:r>
              <a:rPr lang="en" sz="1800"/>
              <a:t>Thal </a:t>
            </a:r>
            <a:r>
              <a:rPr lang="en" sz="1800"/>
              <a:t>Reversible</a:t>
            </a:r>
            <a:r>
              <a:rPr lang="en" sz="1800"/>
              <a:t> Defect</a:t>
            </a:r>
            <a:endParaRPr sz="1800"/>
          </a:p>
          <a:p>
            <a:pPr indent="-342900" lvl="0" marL="457200" rtl="0" algn="l">
              <a:spcBef>
                <a:spcPts val="0"/>
              </a:spcBef>
              <a:spcAft>
                <a:spcPts val="0"/>
              </a:spcAft>
              <a:buSzPts val="1800"/>
              <a:buChar char="●"/>
            </a:pPr>
            <a:r>
              <a:rPr lang="en" sz="1800"/>
              <a:t>Chest Pain Type 4</a:t>
            </a:r>
            <a:endParaRPr sz="1800"/>
          </a:p>
          <a:p>
            <a:pPr indent="0" lvl="0" marL="0" rtl="0" algn="l">
              <a:spcBef>
                <a:spcPts val="1600"/>
              </a:spcBef>
              <a:spcAft>
                <a:spcPts val="1600"/>
              </a:spcAft>
              <a:buNone/>
            </a:pPr>
            <a:r>
              <a:t/>
            </a:r>
            <a:endParaRPr sz="18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6" name="Shape 236"/>
        <p:cNvGrpSpPr/>
        <p:nvPr/>
      </p:nvGrpSpPr>
      <p:grpSpPr>
        <a:xfrm>
          <a:off x="0" y="0"/>
          <a:ext cx="0" cy="0"/>
          <a:chOff x="0" y="0"/>
          <a:chExt cx="0" cy="0"/>
        </a:xfrm>
      </p:grpSpPr>
      <p:sp>
        <p:nvSpPr>
          <p:cNvPr id="237" name="Google Shape;237;p30"/>
          <p:cNvSpPr txBox="1"/>
          <p:nvPr>
            <p:ph type="title"/>
          </p:nvPr>
        </p:nvSpPr>
        <p:spPr>
          <a:xfrm>
            <a:off x="729450" y="12424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 Model Tuning (Parameters)</a:t>
            </a:r>
            <a:endParaRPr/>
          </a:p>
        </p:txBody>
      </p:sp>
      <p:sp>
        <p:nvSpPr>
          <p:cNvPr id="238" name="Google Shape;238;p30"/>
          <p:cNvSpPr txBox="1"/>
          <p:nvPr>
            <p:ph idx="1" type="body"/>
          </p:nvPr>
        </p:nvSpPr>
        <p:spPr>
          <a:xfrm>
            <a:off x="768900" y="2243325"/>
            <a:ext cx="85371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Examples of tuning used in this project:</a:t>
            </a:r>
            <a:endParaRPr sz="1800"/>
          </a:p>
          <a:p>
            <a:pPr indent="-342900" lvl="0" marL="457200" rtl="0" algn="l">
              <a:spcBef>
                <a:spcPts val="1600"/>
              </a:spcBef>
              <a:spcAft>
                <a:spcPts val="0"/>
              </a:spcAft>
              <a:buSzPts val="1800"/>
              <a:buChar char="●"/>
            </a:pPr>
            <a:r>
              <a:rPr lang="en" sz="1800"/>
              <a:t>KNN:</a:t>
            </a:r>
            <a:endParaRPr sz="1800"/>
          </a:p>
          <a:p>
            <a:pPr indent="-342900" lvl="1" marL="914400" rtl="0" algn="l">
              <a:spcBef>
                <a:spcPts val="0"/>
              </a:spcBef>
              <a:spcAft>
                <a:spcPts val="0"/>
              </a:spcAft>
              <a:buSzPts val="1800"/>
              <a:buChar char="○"/>
            </a:pPr>
            <a:r>
              <a:rPr lang="en" sz="1800"/>
              <a:t>n= number of neighbors</a:t>
            </a:r>
            <a:endParaRPr sz="1800"/>
          </a:p>
          <a:p>
            <a:pPr indent="-342900" lvl="1" marL="914400" rtl="0" algn="l">
              <a:spcBef>
                <a:spcPts val="0"/>
              </a:spcBef>
              <a:spcAft>
                <a:spcPts val="0"/>
              </a:spcAft>
              <a:buSzPts val="1800"/>
              <a:buChar char="○"/>
            </a:pPr>
            <a:r>
              <a:rPr lang="en" sz="1800"/>
              <a:t>Weight by distance </a:t>
            </a:r>
            <a:endParaRPr sz="1800"/>
          </a:p>
          <a:p>
            <a:pPr indent="-342900" lvl="0" marL="457200" rtl="0" algn="l">
              <a:spcBef>
                <a:spcPts val="0"/>
              </a:spcBef>
              <a:spcAft>
                <a:spcPts val="0"/>
              </a:spcAft>
              <a:buSzPts val="1800"/>
              <a:buChar char="●"/>
            </a:pPr>
            <a:r>
              <a:rPr lang="en" sz="1800"/>
              <a:t>Decision Tree: </a:t>
            </a:r>
            <a:endParaRPr sz="1800"/>
          </a:p>
          <a:p>
            <a:pPr indent="-342900" lvl="1" marL="914400" rtl="0" algn="l">
              <a:spcBef>
                <a:spcPts val="0"/>
              </a:spcBef>
              <a:spcAft>
                <a:spcPts val="0"/>
              </a:spcAft>
              <a:buSzPts val="1800"/>
              <a:buChar char="○"/>
            </a:pPr>
            <a:r>
              <a:rPr lang="en" sz="1800"/>
              <a:t>Number of max features</a:t>
            </a:r>
            <a:endParaRPr sz="1800"/>
          </a:p>
          <a:p>
            <a:pPr indent="-342900" lvl="1" marL="914400" rtl="0" algn="l">
              <a:spcBef>
                <a:spcPts val="0"/>
              </a:spcBef>
              <a:spcAft>
                <a:spcPts val="0"/>
              </a:spcAft>
              <a:buSzPts val="1800"/>
              <a:buChar char="○"/>
            </a:pPr>
            <a:r>
              <a:rPr lang="en" sz="1800"/>
              <a:t>Depth</a:t>
            </a:r>
            <a:endParaRPr sz="1800"/>
          </a:p>
          <a:p>
            <a:pPr indent="0" lvl="0" marL="0" rtl="0" algn="l">
              <a:spcBef>
                <a:spcPts val="1600"/>
              </a:spcBef>
              <a:spcAft>
                <a:spcPts val="1600"/>
              </a:spcAft>
              <a:buNone/>
            </a:pPr>
            <a:r>
              <a:t/>
            </a:r>
            <a:endParaRPr sz="18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2" name="Shape 242"/>
        <p:cNvGrpSpPr/>
        <p:nvPr/>
      </p:nvGrpSpPr>
      <p:grpSpPr>
        <a:xfrm>
          <a:off x="0" y="0"/>
          <a:ext cx="0" cy="0"/>
          <a:chOff x="0" y="0"/>
          <a:chExt cx="0" cy="0"/>
        </a:xfrm>
      </p:grpSpPr>
      <p:sp>
        <p:nvSpPr>
          <p:cNvPr id="243" name="Google Shape;243;p31"/>
          <p:cNvSpPr txBox="1"/>
          <p:nvPr>
            <p:ph type="title"/>
          </p:nvPr>
        </p:nvSpPr>
        <p:spPr>
          <a:xfrm>
            <a:off x="729450" y="556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Evaluation: Individual Predictors Performance</a:t>
            </a:r>
            <a:endParaRPr/>
          </a:p>
        </p:txBody>
      </p:sp>
      <p:pic>
        <p:nvPicPr>
          <p:cNvPr id="244" name="Google Shape;244;p31"/>
          <p:cNvPicPr preferRelativeResize="0"/>
          <p:nvPr/>
        </p:nvPicPr>
        <p:blipFill>
          <a:blip r:embed="rId3">
            <a:alphaModFix/>
          </a:blip>
          <a:stretch>
            <a:fillRect/>
          </a:stretch>
        </p:blipFill>
        <p:spPr>
          <a:xfrm>
            <a:off x="1905000" y="1170125"/>
            <a:ext cx="4913831" cy="38209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8" name="Shape 248"/>
        <p:cNvGrpSpPr/>
        <p:nvPr/>
      </p:nvGrpSpPr>
      <p:grpSpPr>
        <a:xfrm>
          <a:off x="0" y="0"/>
          <a:ext cx="0" cy="0"/>
          <a:chOff x="0" y="0"/>
          <a:chExt cx="0" cy="0"/>
        </a:xfrm>
      </p:grpSpPr>
      <p:sp>
        <p:nvSpPr>
          <p:cNvPr id="249" name="Google Shape;249;p32"/>
          <p:cNvSpPr txBox="1"/>
          <p:nvPr>
            <p:ph type="title"/>
          </p:nvPr>
        </p:nvSpPr>
        <p:spPr>
          <a:xfrm>
            <a:off x="729450" y="556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Evaluation:</a:t>
            </a:r>
            <a:r>
              <a:rPr lang="en"/>
              <a:t> Ensemble Predictors Performance</a:t>
            </a:r>
            <a:endParaRPr/>
          </a:p>
        </p:txBody>
      </p:sp>
      <p:pic>
        <p:nvPicPr>
          <p:cNvPr id="250" name="Google Shape;250;p32"/>
          <p:cNvPicPr preferRelativeResize="0"/>
          <p:nvPr/>
        </p:nvPicPr>
        <p:blipFill>
          <a:blip r:embed="rId3">
            <a:alphaModFix/>
          </a:blip>
          <a:stretch>
            <a:fillRect/>
          </a:stretch>
        </p:blipFill>
        <p:spPr>
          <a:xfrm>
            <a:off x="1905000" y="1170125"/>
            <a:ext cx="5461954" cy="382097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4" name="Shape 254"/>
        <p:cNvGrpSpPr/>
        <p:nvPr/>
      </p:nvGrpSpPr>
      <p:grpSpPr>
        <a:xfrm>
          <a:off x="0" y="0"/>
          <a:ext cx="0" cy="0"/>
          <a:chOff x="0" y="0"/>
          <a:chExt cx="0" cy="0"/>
        </a:xfrm>
      </p:grpSpPr>
      <p:sp>
        <p:nvSpPr>
          <p:cNvPr id="255" name="Google Shape;255;p33"/>
          <p:cNvSpPr txBox="1"/>
          <p:nvPr>
            <p:ph type="title"/>
          </p:nvPr>
        </p:nvSpPr>
        <p:spPr>
          <a:xfrm>
            <a:off x="729450" y="556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Evaluation</a:t>
            </a:r>
            <a:r>
              <a:rPr lang="en"/>
              <a:t>: Ensemble Predictors Performance</a:t>
            </a:r>
            <a:endParaRPr/>
          </a:p>
        </p:txBody>
      </p:sp>
      <p:pic>
        <p:nvPicPr>
          <p:cNvPr id="256" name="Google Shape;256;p33"/>
          <p:cNvPicPr preferRelativeResize="0"/>
          <p:nvPr/>
        </p:nvPicPr>
        <p:blipFill>
          <a:blip r:embed="rId3">
            <a:alphaModFix/>
          </a:blip>
          <a:stretch>
            <a:fillRect/>
          </a:stretch>
        </p:blipFill>
        <p:spPr>
          <a:xfrm>
            <a:off x="1600200" y="1170125"/>
            <a:ext cx="5479246" cy="382097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0" name="Shape 260"/>
        <p:cNvGrpSpPr/>
        <p:nvPr/>
      </p:nvGrpSpPr>
      <p:grpSpPr>
        <a:xfrm>
          <a:off x="0" y="0"/>
          <a:ext cx="0" cy="0"/>
          <a:chOff x="0" y="0"/>
          <a:chExt cx="0" cy="0"/>
        </a:xfrm>
      </p:grpSpPr>
      <p:sp>
        <p:nvSpPr>
          <p:cNvPr id="261" name="Google Shape;261;p3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a:t>
            </a:r>
            <a:endParaRPr/>
          </a:p>
        </p:txBody>
      </p:sp>
      <p:sp>
        <p:nvSpPr>
          <p:cNvPr id="262" name="Google Shape;262;p34"/>
          <p:cNvSpPr txBox="1"/>
          <p:nvPr>
            <p:ph idx="1" type="body"/>
          </p:nvPr>
        </p:nvSpPr>
        <p:spPr>
          <a:xfrm>
            <a:off x="729450" y="1850275"/>
            <a:ext cx="7688700" cy="32931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Relying on accuracy scores, NB performed the best in terms of </a:t>
            </a:r>
            <a:r>
              <a:rPr lang="en" sz="1600"/>
              <a:t>generalization</a:t>
            </a:r>
            <a:r>
              <a:rPr lang="en" sz="1600"/>
              <a:t> gap.</a:t>
            </a:r>
            <a:endParaRPr sz="1600"/>
          </a:p>
          <a:p>
            <a:pPr indent="-330200" lvl="0" marL="457200" rtl="0" algn="l">
              <a:spcBef>
                <a:spcPts val="0"/>
              </a:spcBef>
              <a:spcAft>
                <a:spcPts val="0"/>
              </a:spcAft>
              <a:buSzPts val="1600"/>
              <a:buChar char="●"/>
            </a:pPr>
            <a:r>
              <a:rPr lang="en" sz="1600"/>
              <a:t>SVM performed the best out of ensemble models when using accuracy score and cross evaluation. </a:t>
            </a:r>
            <a:endParaRPr sz="1600"/>
          </a:p>
          <a:p>
            <a:pPr indent="0" lvl="0" marL="0" rtl="0" algn="l">
              <a:spcBef>
                <a:spcPts val="1600"/>
              </a:spcBef>
              <a:spcAft>
                <a:spcPts val="0"/>
              </a:spcAft>
              <a:buNone/>
            </a:pPr>
            <a:r>
              <a:rPr lang="en" sz="1600"/>
              <a:t>Next steps: </a:t>
            </a:r>
            <a:endParaRPr sz="1600"/>
          </a:p>
          <a:p>
            <a:pPr indent="-330200" lvl="0" marL="457200" rtl="0" algn="l">
              <a:spcBef>
                <a:spcPts val="1600"/>
              </a:spcBef>
              <a:spcAft>
                <a:spcPts val="0"/>
              </a:spcAft>
              <a:buSzPts val="1600"/>
              <a:buChar char="●"/>
            </a:pPr>
            <a:r>
              <a:rPr lang="en" sz="1600"/>
              <a:t>Invest more time on feature selection. </a:t>
            </a:r>
            <a:endParaRPr sz="1600"/>
          </a:p>
          <a:p>
            <a:pPr indent="-330200" lvl="0" marL="457200" rtl="0" algn="l">
              <a:spcBef>
                <a:spcPts val="0"/>
              </a:spcBef>
              <a:spcAft>
                <a:spcPts val="0"/>
              </a:spcAft>
              <a:buSzPts val="1600"/>
              <a:buChar char="●"/>
            </a:pPr>
            <a:r>
              <a:rPr lang="en" sz="1600"/>
              <a:t>Invest more time on tuning.</a:t>
            </a:r>
            <a:endParaRPr sz="1600"/>
          </a:p>
          <a:p>
            <a:pPr indent="-330200" lvl="0" marL="457200" rtl="0" algn="l">
              <a:spcBef>
                <a:spcPts val="0"/>
              </a:spcBef>
              <a:spcAft>
                <a:spcPts val="0"/>
              </a:spcAft>
              <a:buSzPts val="1600"/>
              <a:buChar char="●"/>
            </a:pPr>
            <a:r>
              <a:rPr lang="en" sz="1600"/>
              <a:t>Pipeline method to optimize code, tune parameters and try multiple functions.</a:t>
            </a:r>
            <a:endParaRPr sz="1600"/>
          </a:p>
          <a:p>
            <a:pPr indent="-330200" lvl="0" marL="457200" rtl="0" algn="l">
              <a:spcBef>
                <a:spcPts val="0"/>
              </a:spcBef>
              <a:spcAft>
                <a:spcPts val="0"/>
              </a:spcAft>
              <a:buSzPts val="1600"/>
              <a:buChar char="●"/>
            </a:pPr>
            <a:r>
              <a:rPr lang="en" sz="1600"/>
              <a:t>Create two different models for males and females.  </a:t>
            </a:r>
            <a:endParaRPr sz="16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6" name="Shape 266"/>
        <p:cNvGrpSpPr/>
        <p:nvPr/>
      </p:nvGrpSpPr>
      <p:grpSpPr>
        <a:xfrm>
          <a:off x="0" y="0"/>
          <a:ext cx="0" cy="0"/>
          <a:chOff x="0" y="0"/>
          <a:chExt cx="0" cy="0"/>
        </a:xfrm>
      </p:grpSpPr>
      <p:sp>
        <p:nvSpPr>
          <p:cNvPr id="267" name="Google Shape;267;p3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Limitations</a:t>
            </a:r>
            <a:endParaRPr/>
          </a:p>
        </p:txBody>
      </p:sp>
      <p:sp>
        <p:nvSpPr>
          <p:cNvPr id="268" name="Google Shape;268;p3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Time</a:t>
            </a:r>
            <a:endParaRPr sz="1800"/>
          </a:p>
          <a:p>
            <a:pPr indent="-342900" lvl="0" marL="457200" rtl="0" algn="l">
              <a:spcBef>
                <a:spcPts val="0"/>
              </a:spcBef>
              <a:spcAft>
                <a:spcPts val="0"/>
              </a:spcAft>
              <a:buSzPts val="1800"/>
              <a:buChar char="●"/>
            </a:pPr>
            <a:r>
              <a:rPr lang="en" sz="1800"/>
              <a:t>Dataset publicly available</a:t>
            </a:r>
            <a:endParaRPr sz="1800"/>
          </a:p>
          <a:p>
            <a:pPr indent="-342900" lvl="0" marL="457200" rtl="0" algn="l">
              <a:spcBef>
                <a:spcPts val="0"/>
              </a:spcBef>
              <a:spcAft>
                <a:spcPts val="0"/>
              </a:spcAft>
              <a:buSzPts val="1800"/>
              <a:buChar char="●"/>
            </a:pPr>
            <a:r>
              <a:rPr lang="en" sz="1800"/>
              <a:t>Superficial knowledge of subject matter </a:t>
            </a:r>
            <a:endParaRPr sz="18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2" name="Shape 272"/>
        <p:cNvGrpSpPr/>
        <p:nvPr/>
      </p:nvGrpSpPr>
      <p:grpSpPr>
        <a:xfrm>
          <a:off x="0" y="0"/>
          <a:ext cx="0" cy="0"/>
          <a:chOff x="0" y="0"/>
          <a:chExt cx="0" cy="0"/>
        </a:xfrm>
      </p:grpSpPr>
      <p:sp>
        <p:nvSpPr>
          <p:cNvPr id="273" name="Google Shape;273;p3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6000"/>
              <a:t>Thanks!!</a:t>
            </a:r>
            <a:endParaRPr b="1" sz="6000"/>
          </a:p>
          <a:p>
            <a:pPr indent="0" lvl="0" marL="0" rtl="0" algn="ctr">
              <a:spcBef>
                <a:spcPts val="1600"/>
              </a:spcBef>
              <a:spcAft>
                <a:spcPts val="1600"/>
              </a:spcAft>
              <a:buNone/>
            </a:pPr>
            <a:r>
              <a:rPr lang="en" sz="6000"/>
              <a:t>Questions?</a:t>
            </a:r>
            <a:endParaRPr sz="6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7" name="Shape 277"/>
        <p:cNvGrpSpPr/>
        <p:nvPr/>
      </p:nvGrpSpPr>
      <p:grpSpPr>
        <a:xfrm>
          <a:off x="0" y="0"/>
          <a:ext cx="0" cy="0"/>
          <a:chOff x="0" y="0"/>
          <a:chExt cx="0" cy="0"/>
        </a:xfrm>
      </p:grpSpPr>
      <p:sp>
        <p:nvSpPr>
          <p:cNvPr id="278" name="Google Shape;278;p3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NB </a:t>
            </a:r>
            <a:endParaRPr/>
          </a:p>
        </p:txBody>
      </p:sp>
      <p:sp>
        <p:nvSpPr>
          <p:cNvPr id="279" name="Google Shape;279;p37"/>
          <p:cNvSpPr txBox="1"/>
          <p:nvPr>
            <p:ph idx="1" type="body"/>
          </p:nvPr>
        </p:nvSpPr>
        <p:spPr>
          <a:xfrm>
            <a:off x="729450" y="2078875"/>
            <a:ext cx="33963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Correlations between key features are relatively low (&gt;0.45).</a:t>
            </a:r>
            <a:endParaRPr/>
          </a:p>
          <a:p>
            <a:pPr indent="-311150" lvl="0" marL="457200" rtl="0" algn="l">
              <a:spcBef>
                <a:spcPts val="0"/>
              </a:spcBef>
              <a:spcAft>
                <a:spcPts val="0"/>
              </a:spcAft>
              <a:buSzPts val="1300"/>
              <a:buChar char="●"/>
            </a:pPr>
            <a:r>
              <a:rPr lang="en"/>
              <a:t>Relationship between Outcome variable and key features is linear.</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3" name="Shape 283"/>
        <p:cNvGrpSpPr/>
        <p:nvPr/>
      </p:nvGrpSpPr>
      <p:grpSpPr>
        <a:xfrm>
          <a:off x="0" y="0"/>
          <a:ext cx="0" cy="0"/>
          <a:chOff x="0" y="0"/>
          <a:chExt cx="0" cy="0"/>
        </a:xfrm>
      </p:grpSpPr>
      <p:sp>
        <p:nvSpPr>
          <p:cNvPr id="284" name="Google Shape;284;p3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Rationale for choosing the models </a:t>
            </a:r>
            <a:endParaRPr/>
          </a:p>
        </p:txBody>
      </p:sp>
      <p:sp>
        <p:nvSpPr>
          <p:cNvPr id="285" name="Google Shape;285;p3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